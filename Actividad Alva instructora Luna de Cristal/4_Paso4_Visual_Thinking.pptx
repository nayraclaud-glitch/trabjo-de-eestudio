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69b68b68-ca8a-b276-f5aa-2a8647f7a240}">
          <p14:sldIdLst>
            <p14:sldId id="256"/>
          </p14:sldIdLst>
        </p14:section>
        <p14:section name="Diagnóstico" id="{530b8d97-0ee3-dd76-aded-0ffe4011b801}">
          <p14:sldIdLst>
            <p14:sldId id="257"/>
            <p14:sldId id="258"/>
            <p14:sldId id="259"/>
          </p14:sldIdLst>
        </p14:section>
        <p14:section name="Análisis" id="{8f34badc-0161-5319-3a90-164cb64e769f}">
          <p14:sldIdLst>
            <p14:sldId id="260"/>
            <p14:sldId id="261"/>
          </p14:sldIdLst>
        </p14:section>
        <p14:section name="Innovación" id="{f930c74a-f58e-4618-575c-133779c61825}">
          <p14:sldIdLst>
            <p14:sldId id="262"/>
            <p14:sldId id="263"/>
          </p14:sldIdLst>
        </p14:section>
        <p14:section name="Cierre" id="{7de344fe-abe8-9714-ea92-4364f567840b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Presento el diagnóstico de Luna de Cristal, la tienda de ropa para dama y perfumes de mi familia en Yopal, organizado con la técnica de Visual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mapa resume todo el trabajo: en el centro la empresa; arriba quiénes somos y qué falla; abajo las ideas creativas, el plan de 30 días y mi conclusión.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Luna de Cristal es un negocio familiar de comercio al por menor. Su gran fortaleza es el producto: ropa y perfumes de calidad con buen margen, más un local físico y atención cercana.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Clasifiqué los procesos en estratégicos, misionales y de apoyo. La atención es la gran fortaleza, pero inventario, ventas y facturación se llevan a mano, sin sistema 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efecto es que las ventas están por debajo de su potencial. Las causas más fuertes son el bajo alcance en redes, los procesos manuales y la falta de datos; casi todas se pueden corregir con poca inversión.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colaboradores piden mejorar la tecnología, las clientas valoran estilo, precio y atención y compran cada vez más por redes, y los proveedores piden más retroalimentación.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no hay presupuesto, la creatividad es la clave: promociones controladas que mueven el inventario y herramientas gratuitas para darse a conocer.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plan va por semanas: primero la base digital, luego atraer clientas, aprovechar Halloween y prepararse para Black Friday y diciembre. Cada día se miden mensajes, ventas y reseñas.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dices tu conclusión personal con tus propias palabras: qué aprendiste al investigar el negocio de tu familia y qué te comprometes a hacer.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 osc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76809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76809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Visual Thinking: Luna de Cristal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Paso 4 · Actividad de reflexión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Aprendiz: Eimer Sebastián Rojas Cañas · Instructora: Alba Rocío Cuchigay Rosas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SENA · Tecnólogo en Gestión del Desarrollo Administrativo e Innovación · Yopal 2026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737360"/>
            <a:ext cx="26517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El diagnóstico en una sola imagen</a:t>
            </a:r>
            <a:endParaRPr lang="en-US" sz="3600" dirty="0"/>
          </a:p>
        </p:txBody>
      </p:sp>
      <p:pic>
        <p:nvPicPr>
          <p:cNvPr id="3" name="Image 0" descr="/home/user/Trabjo-De-eEstudio/Actividad Alva instructora Luna de Cristal/Mapa_visual_ejemplo_Luna_de_Cris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5688" y="1325880"/>
            <a:ext cx="8046720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¿Quiénes somos? La realidad de la empresa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77240" cy="777240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657350"/>
            <a:ext cx="388620" cy="3886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4447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Microempresa familiar (2026)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8470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 19 # 23-57, centro de Yopal. Propietaria y un asesor de ventas.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777240" cy="777240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846070"/>
            <a:ext cx="388620" cy="3886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26334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Ropa, perfumes y correas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554480" y="30358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Jeans, vestidos, faldas, shorts y bodys para mujeres de 16 a 60 años.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840480"/>
            <a:ext cx="777240" cy="777240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034790"/>
            <a:ext cx="388620" cy="3886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38221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clientas al día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554480" y="42245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 más los viernes, sábados y fechas especiales.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5029200"/>
            <a:ext cx="777240" cy="777240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5223510"/>
            <a:ext cx="388620" cy="3886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54480" y="50109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 al por menor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554480" y="54132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CIIU 4771 (prendas de vestir) y 4773 (cosméticos y perfumes).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7132320" y="1463040"/>
            <a:ext cx="4480560" cy="4572000"/>
          </a:xfrm>
          <a:prstGeom prst="roundRect">
            <a:avLst>
              <a:gd name="adj" fmla="val 244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73736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46720" y="17556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Fortalezas</a:t>
            </a:r>
            <a:endParaRPr lang="en-US" sz="2200" dirty="0"/>
          </a:p>
        </p:txBody>
      </p:sp>
      <p:sp>
        <p:nvSpPr>
          <p:cNvPr id="22" name="Text 15"/>
          <p:cNvSpPr txBox="1"/>
          <p:nvPr/>
        </p:nvSpPr>
        <p:spPr>
          <a:xfrm>
            <a:off x="7452360" y="242316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cercana y personalizada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93,3 % de las clientas la recomienda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cómodos: pantalón $97.000 vs. $120.000-150.000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céntrica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motivado (100 %)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satisfechos (100 % seguiría)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Procesos de la empresa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29000" cy="4754880"/>
          </a:xfrm>
          <a:prstGeom prst="roundRect">
            <a:avLst>
              <a:gd name="adj" fmla="val 3200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47088" y="1645920"/>
            <a:ext cx="822960" cy="822960"/>
          </a:xfrm>
          <a:prstGeom prst="ellipse">
            <a:avLst/>
          </a:prstGeom>
          <a:solidFill>
            <a:srgbClr val="3B2A5C"/>
          </a:solidFill>
          <a:ln w="12700">
            <a:solidFill>
              <a:srgbClr val="3B2A5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2828" y="18516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06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Estratégicos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Planeación de compras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y promociones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2030: físico + digital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5257800"/>
            <a:ext cx="2880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3B2A5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528523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indicadores ni plan escrito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041648" y="3566160"/>
            <a:ext cx="329184" cy="411480"/>
          </a:xfrm>
          <a:prstGeom prst="rightArrow">
            <a:avLst/>
          </a:prstGeom>
          <a:solidFill>
            <a:srgbClr val="9A86C2"/>
          </a:solidFill>
          <a:ln w="12700">
            <a:solidFill>
              <a:srgbClr val="9A86C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34840" y="1417320"/>
            <a:ext cx="3429000" cy="4754880"/>
          </a:xfrm>
          <a:prstGeom prst="roundRect">
            <a:avLst>
              <a:gd name="adj" fmla="val 3200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33288" y="1645920"/>
            <a:ext cx="822960" cy="822960"/>
          </a:xfrm>
          <a:prstGeom prst="ellipse">
            <a:avLst/>
          </a:prstGeom>
          <a:solidFill>
            <a:srgbClr val="C4568A"/>
          </a:solidFill>
          <a:ln w="12700">
            <a:solidFill>
              <a:srgbClr val="C4568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028" y="185166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34840" y="2606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5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Misionales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320040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(Bogotá, Medellín, Shein)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Vitrina y exhibición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personalizada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física, redes y domicilio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709160" y="5257800"/>
            <a:ext cx="2880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C4568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800600" y="528523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45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atención, pocas clientas nuevas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927848" y="3566160"/>
            <a:ext cx="329184" cy="411480"/>
          </a:xfrm>
          <a:prstGeom prst="rightArrow">
            <a:avLst/>
          </a:prstGeom>
          <a:solidFill>
            <a:srgbClr val="9A86C2"/>
          </a:solidFill>
          <a:ln w="12700">
            <a:solidFill>
              <a:srgbClr val="9A86C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21040" y="1417320"/>
            <a:ext cx="3429000" cy="4754880"/>
          </a:xfrm>
          <a:prstGeom prst="roundRect">
            <a:avLst>
              <a:gd name="adj" fmla="val 3200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619488" y="1645920"/>
            <a:ext cx="822960" cy="822960"/>
          </a:xfrm>
          <a:prstGeom prst="ellipse">
            <a:avLst/>
          </a:prstGeom>
          <a:solidFill>
            <a:srgbClr val="2F9A6A"/>
          </a:solidFill>
          <a:ln w="12700">
            <a:solidFill>
              <a:srgbClr val="2F9A6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228" y="185166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321040" y="2606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9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apoyo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8595360" y="320040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y ventas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y caja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y Meta Ads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Talento humano y SST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8595360" y="5257800"/>
            <a:ext cx="2880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2F9A6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686800" y="528523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F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 mano, sin POS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¿Qué falla? Diagrama causa-efecto</a:t>
            </a:r>
            <a:endParaRPr lang="en-US" sz="3600" dirty="0"/>
          </a:p>
        </p:txBody>
      </p:sp>
      <p:pic>
        <p:nvPicPr>
          <p:cNvPr id="3" name="Image 0" descr="/home/user/Trabjo-De-eEstudio/Actividad Alva instructora Luna de Cristal/Diagrama_causa_efecto_Luna_de_Cris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829800" y="2011680"/>
            <a:ext cx="1828800" cy="3291840"/>
          </a:xfrm>
          <a:prstGeom prst="roundRect">
            <a:avLst>
              <a:gd name="adj" fmla="val 6000"/>
            </a:avLst>
          </a:prstGeom>
          <a:solidFill>
            <a:srgbClr val="3B2A5C"/>
          </a:solidFill>
          <a:ln w="12700">
            <a:solidFill>
              <a:srgbClr val="3B2A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9966960" y="2194560"/>
            <a:ext cx="1554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clave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no es el producto: es el poco alcance digital y que todo se maneja a mano.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Necesidades de clientes y proveedores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28800" y="1691640"/>
            <a:ext cx="914400" cy="914400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7432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4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Internos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004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Propietaria y asesor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947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100 %: mejorar la tecnología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y organigrama sin conocer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claros para decidir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43400" y="146304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23560" y="1691640"/>
            <a:ext cx="914400" cy="914400"/>
          </a:xfrm>
          <a:prstGeom prst="ellipse">
            <a:avLst/>
          </a:prstGeom>
          <a:solidFill>
            <a:srgbClr val="C4568A"/>
          </a:solidFill>
          <a:ln w="12700">
            <a:solidFill>
              <a:srgbClr val="C4568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9202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43400" y="27432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5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Externos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4343400" y="32004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clientas encuestadas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7947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Estilo, buen precio y atención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productos en redes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rápida y domicilio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138160" y="146304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18320" y="1691640"/>
            <a:ext cx="914400" cy="914400"/>
          </a:xfrm>
          <a:prstGeom prst="ellipse">
            <a:avLst/>
          </a:prstGeom>
          <a:solidFill>
            <a:srgbClr val="2F9A6A"/>
          </a:solidFill>
          <a:ln w="12700">
            <a:solidFill>
              <a:srgbClr val="2F9A6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19202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38160" y="27432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9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Proveedores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138160" y="32004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proveedores encuestados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37947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más ágil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 (60 %: a veces)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planeadas con datos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Ideas creativas e innovadoras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37360"/>
            <a:ext cx="822960" cy="822960"/>
          </a:xfrm>
          <a:prstGeom prst="ellipse">
            <a:avLst/>
          </a:prstGeom>
          <a:solidFill>
            <a:srgbClr val="3B2A5C"/>
          </a:solidFill>
          <a:ln w="12700">
            <a:solidFill>
              <a:srgbClr val="3B2A5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9431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83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 de Luna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 en 5 prendas quietas: mueve un día flojo.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4340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7720" y="1737360"/>
            <a:ext cx="822960" cy="822960"/>
          </a:xfrm>
          <a:prstGeom prst="ellipse">
            <a:avLst/>
          </a:prstGeom>
          <a:solidFill>
            <a:srgbClr val="C4568A"/>
          </a:solidFill>
          <a:ln w="12700">
            <a:solidFill>
              <a:srgbClr val="C4568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60" y="19431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783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 con tu amiga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 para las dos con compra mínima.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13816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12480" y="1737360"/>
            <a:ext cx="822960" cy="822960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0" y="19431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372600" y="1783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 de perfume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gratis y volver por el frasco.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4864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4114800"/>
            <a:ext cx="822960" cy="822960"/>
          </a:xfrm>
          <a:prstGeom prst="ellipse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2054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83080" y="4160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digital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074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ropa, perfumes y correas con precios.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434340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17720" y="4114800"/>
            <a:ext cx="822960" cy="822960"/>
          </a:xfrm>
          <a:prstGeom prst="ellipse">
            <a:avLst/>
          </a:prstGeom>
          <a:solidFill>
            <a:srgbClr val="2F9A6A"/>
          </a:solidFill>
          <a:ln w="12700">
            <a:solidFill>
              <a:srgbClr val="2F9A6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460" y="432054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577840" y="4160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+ reseñas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617720" y="5074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Aparecer cuando buscan en el celular.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813816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412480" y="4114800"/>
            <a:ext cx="822960" cy="822960"/>
          </a:xfrm>
          <a:prstGeom prst="ellipse">
            <a:avLst/>
          </a:prstGeom>
          <a:solidFill>
            <a:srgbClr val="9A86C2"/>
          </a:solidFill>
          <a:ln w="12700">
            <a:solidFill>
              <a:srgbClr val="9A86C2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8220" y="4320540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372600" y="4160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412480" y="5074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y videos profesionales gratis.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Plan de acción: 30 días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2148840"/>
            <a:ext cx="9966960" cy="0"/>
          </a:xfrm>
          <a:prstGeom prst="line">
            <a:avLst/>
          </a:prstGeom>
          <a:noFill/>
          <a:ln w="50800">
            <a:solidFill>
              <a:srgbClr val="9A86C2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325880" y="1600200"/>
            <a:ext cx="1097280" cy="1097280"/>
          </a:xfrm>
          <a:prstGeom prst="ellipse">
            <a:avLst/>
          </a:prstGeom>
          <a:solidFill>
            <a:srgbClr val="3B2A5C"/>
          </a:solidFill>
          <a:ln w="12700">
            <a:solidFill>
              <a:srgbClr val="3B2A5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8745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74904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393192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y fotos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Vitrina "Octubre Embrujado"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1.er Jueves de Luna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160520" y="1600200"/>
            <a:ext cx="1097280" cy="1097280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745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83280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4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2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Tracción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3383280" y="374904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3566160" y="393192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"Ven con tu amiga"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reseñas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diario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995160" y="1600200"/>
            <a:ext cx="1097280" cy="1097280"/>
          </a:xfrm>
          <a:prstGeom prst="ellipse">
            <a:avLst/>
          </a:prstGeom>
          <a:solidFill>
            <a:srgbClr val="C4568A"/>
          </a:solidFill>
          <a:ln w="12700">
            <a:solidFill>
              <a:srgbClr val="C4568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87452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17920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5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3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0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Halloween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217920" y="374904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6400800" y="393192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regresiva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Combos Hechizo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resultados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9829800" y="1600200"/>
            <a:ext cx="1097280" cy="1097280"/>
          </a:xfrm>
          <a:prstGeom prst="ellipse">
            <a:avLst/>
          </a:prstGeom>
          <a:solidFill>
            <a:srgbClr val="2F9A6A"/>
          </a:solidFill>
          <a:ln w="12700">
            <a:solidFill>
              <a:srgbClr val="2F9A6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187452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052560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9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4+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9052560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Crecer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9052560" y="374904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1"/>
          <p:cNvSpPr txBox="1"/>
          <p:nvPr/>
        </p:nvSpPr>
        <p:spPr>
          <a:xfrm>
            <a:off x="9235440" y="393192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promociones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y diciembre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inventario y POS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Mi conclusión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6A8"/>
                </a:solidFill>
              </a:rPr>
              <a:t>Buen producto + visibilidad + datos = crecimiento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Innovar no siempre requiere dinero: con creatividad y herramientas gratuitas, Luna de Cristal puede llegar a más clientas.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011680"/>
            <a:ext cx="2194560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una de Cristal">
  <a:themeElements>
    <a:clrScheme name="Luna de Cristal">
      <a:dk1>
        <a:srgbClr val="1F1A2E"/>
      </a:dk1>
      <a:lt1>
        <a:srgbClr val="FFFFFF"/>
      </a:lt1>
      <a:dk2>
        <a:srgbClr val="3B2A5C"/>
      </a:dk2>
      <a:lt2>
        <a:srgbClr val="EFE8FA"/>
      </a:lt2>
      <a:accent1>
        <a:srgbClr val="6B4FA0"/>
      </a:accent1>
      <a:accent2>
        <a:srgbClr val="C4568A"/>
      </a:accent2>
      <a:accent3>
        <a:srgbClr val="D9A520"/>
      </a:accent3>
      <a:accent4>
        <a:srgbClr val="2F9A6A"/>
      </a:accent4>
      <a:accent5>
        <a:srgbClr val="9A86C2"/>
      </a:accent5>
      <a:accent6>
        <a:srgbClr val="F5E6A8"/>
      </a:accent6>
      <a:hlink>
        <a:srgbClr val="6B4FA0"/>
      </a:hlink>
      <a:folHlink>
        <a:srgbClr val="C4568A"/>
      </a:folHlink>
    </a:clrScheme>
    <a:fontScheme name="Luna de Crist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Thinking - Luna de Cristal</dc:title>
  <dc:subject>PptxGenJS Presentation</dc:subject>
  <dc:creator>Eimer Sebastián Rojas Cañas</dc:creator>
  <cp:lastModifiedBy>Eimer Sebastián Rojas Cañas</cp:lastModifiedBy>
  <cp:revision>1</cp:revision>
  <dcterms:created xsi:type="dcterms:W3CDTF">2026-10-13T15:27:13Z</dcterms:created>
  <dcterms:modified xsi:type="dcterms:W3CDTF">2026-10-13T15:27:13Z</dcterms:modified>
</cp:coreProperties>
</file>