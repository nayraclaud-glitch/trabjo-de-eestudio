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icio" id="{64f373d1-e5ab-c738-c8b5-7e9c4fd6022d}">
          <p14:sldIdLst>
            <p14:sldId id="256"/>
          </p14:sldIdLst>
        </p14:section>
        <p14:section name="Diagnóstico" id="{d6bf0132-e216-005c-7c11-7019a29374ed}">
          <p14:sldIdLst>
            <p14:sldId id="257"/>
            <p14:sldId id="258"/>
            <p14:sldId id="259"/>
          </p14:sldIdLst>
        </p14:section>
        <p14:section name="Análisis" id="{abf291d7-2c31-3c29-53fa-64a38714eb5a}">
          <p14:sldIdLst>
            <p14:sldId id="260"/>
            <p14:sldId id="261"/>
          </p14:sldIdLst>
        </p14:section>
        <p14:section name="Innovación" id="{ccc0a77b-8f4d-8dde-434a-db2c816c570c}">
          <p14:sldIdLst>
            <p14:sldId id="262"/>
            <p14:sldId id="263"/>
          </p14:sldIdLst>
        </p14:section>
        <p14:section name="Cierre" id="{dd028035-f734-153e-e87b-d2d3ab7949ef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Presento el diagnóstico de Luna de Cristal, la tienda de ropa para dama y perfumes de mi familia en Yopal, organizado con la técnica de Visual Thinking.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mapa resume todo el trabajo: en el centro la empresa; arriba quiénes somos y qué falla; abajo las ideas creativas, el plan de 30 días y mi conclusión.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Luna de Cristal es un negocio familiar de comercio al por menor. Su gran fortaleza es el producto: ropa y perfumes de calidad con buen margen, más un local físico y atención cercana.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Clasifiqué los procesos en estratégicos, misionales y de apoyo. En los tres encontré lo mismo: funcionan de manera informal y sin registros.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efecto es que las ventas están por debajo de su potencial. La mayoría de las causas están en comunicación, procesos y medición, y se pueden corregir con poca inversión.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clientes internos necesitan apoyo y datos; las clientas necesitan ver los productos antes de ir y que les respondan rápido.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no hay presupuesto, la creatividad es la clave: promociones controladas que mueven el inventario y herramientas gratuitas para darse a conocer.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plan va por semanas: primero la base digital, luego atraer clientas, aprovechar Halloween y prepararse para Black Friday y diciembre. Cada día se miden mensajes, ventas y reseñas.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Aquí dices tu conclusión personal con tus propias palabras: qué aprendiste al investigar el negocio de tu familia y qué te comprometes a hacer.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 osc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768096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768096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888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888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Visual Thinking: Luna de Cristal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Paso 4 · Actividad de reflexión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Aprendiz: Sebastián [apellidos] · Instructora: Alva [apellidos]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SENA · Yopal, Casanare · Octubre 2026</a:t>
            </a:r>
            <a:endParaRPr lang="en-US" sz="2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1737360"/>
            <a:ext cx="2651760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El diagnóstico en una sola imagen</a:t>
            </a:r>
            <a:endParaRPr lang="en-US" sz="3600" dirty="0"/>
          </a:p>
        </p:txBody>
      </p:sp>
      <p:pic>
        <p:nvPicPr>
          <p:cNvPr id="3" name="Image 0" descr="/home/user/Trabjo-De-eEstudio/Actividad Alva instructora Luna de Cristal/Mapa_visual_ejemplo_Luna_de_Cris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5688" y="1325880"/>
            <a:ext cx="8046720" cy="5029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888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¿Quiénes somos? La realidad de la empresa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77240" cy="777240"/>
          </a:xfrm>
          <a:prstGeom prst="ellipse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50" y="1657350"/>
            <a:ext cx="388620" cy="3886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54480" y="1444752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Tienda familiar en Yopal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184708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físico administrado por la dueña; registrada en Cámara de Comercio.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2651760"/>
            <a:ext cx="777240" cy="777240"/>
          </a:xfrm>
          <a:prstGeom prst="ellipse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2846070"/>
            <a:ext cx="388620" cy="3886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554480" y="2633472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Ropa para dama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1554480" y="303580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Blusas, pantalones, vestidos y más, con asesoría personalizada.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3840480"/>
            <a:ext cx="777240" cy="777240"/>
          </a:xfrm>
          <a:prstGeom prst="ellipse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950" y="4034790"/>
            <a:ext cx="388620" cy="3886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554480" y="3822192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Perfumes de $80.000 a $120.000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1554480" y="422452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producto de mayor valor y mejor margen.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548640" y="5029200"/>
            <a:ext cx="777240" cy="777240"/>
          </a:xfrm>
          <a:prstGeom prst="ellipse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950" y="5223510"/>
            <a:ext cx="388620" cy="3886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554480" y="5010912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Comercio al por menor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1554480" y="541324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CIIU 4771 (prendas de vestir) y 4773 (cosméticos y perfumes).</a:t>
            </a:r>
            <a:endParaRPr lang="en-US" sz="1400" dirty="0"/>
          </a:p>
        </p:txBody>
      </p:sp>
      <p:sp>
        <p:nvSpPr>
          <p:cNvPr id="19" name="Shape 13"/>
          <p:cNvSpPr/>
          <p:nvPr/>
        </p:nvSpPr>
        <p:spPr>
          <a:xfrm>
            <a:off x="7132320" y="1463040"/>
            <a:ext cx="4480560" cy="4572000"/>
          </a:xfrm>
          <a:prstGeom prst="roundRect">
            <a:avLst>
              <a:gd name="adj" fmla="val 2449"/>
            </a:avLst>
          </a:prstGeom>
          <a:solidFill>
            <a:srgbClr val="EFE8FA"/>
          </a:solidFill>
          <a:ln w="12700">
            <a:solidFill>
              <a:srgbClr val="EFE8F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0" y="1737360"/>
            <a:ext cx="457200" cy="45720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8046720" y="17556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Fortalezas</a:t>
            </a:r>
            <a:endParaRPr lang="en-US" sz="2200" dirty="0"/>
          </a:p>
        </p:txBody>
      </p:sp>
      <p:sp>
        <p:nvSpPr>
          <p:cNvPr id="22" name="Text 15"/>
          <p:cNvSpPr txBox="1"/>
          <p:nvPr/>
        </p:nvSpPr>
        <p:spPr>
          <a:xfrm>
            <a:off x="7452360" y="2423160"/>
            <a:ext cx="39319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Productos de calidad y buen margen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propio que genera confianza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 cercana y familiar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gratis dentro de Yopal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Ropa + perfume: combos de mayor valor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Disposición al cambio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888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Procesos de la empresa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429000" cy="4754880"/>
          </a:xfrm>
          <a:prstGeom prst="roundRect">
            <a:avLst>
              <a:gd name="adj" fmla="val 3200"/>
            </a:avLst>
          </a:prstGeom>
          <a:solidFill>
            <a:srgbClr val="EFE8FA"/>
          </a:solidFill>
          <a:ln w="12700">
            <a:solidFill>
              <a:srgbClr val="EFE8F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847088" y="1645920"/>
            <a:ext cx="822960" cy="822960"/>
          </a:xfrm>
          <a:prstGeom prst="ellipse">
            <a:avLst/>
          </a:prstGeom>
          <a:solidFill>
            <a:srgbClr val="3B2A5C"/>
          </a:solidFill>
          <a:ln w="12700">
            <a:solidFill>
              <a:srgbClr val="3B2A5C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52828" y="1851660"/>
            <a:ext cx="411480" cy="411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260604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Estratégicos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200400"/>
            <a:ext cx="2926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Planeación de compras y temporadas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Precios y promociones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del negocio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22960" y="5257800"/>
            <a:ext cx="28803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9050">
            <a:solidFill>
              <a:srgbClr val="3B2A5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14400" y="5285232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Informales, sin datos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041648" y="3566160"/>
            <a:ext cx="329184" cy="411480"/>
          </a:xfrm>
          <a:prstGeom prst="rightArrow">
            <a:avLst/>
          </a:prstGeom>
          <a:solidFill>
            <a:srgbClr val="9A86C2"/>
          </a:solidFill>
          <a:ln w="12700">
            <a:solidFill>
              <a:srgbClr val="9A86C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34840" y="1417320"/>
            <a:ext cx="3429000" cy="4754880"/>
          </a:xfrm>
          <a:prstGeom prst="roundRect">
            <a:avLst>
              <a:gd name="adj" fmla="val 3200"/>
            </a:avLst>
          </a:prstGeom>
          <a:solidFill>
            <a:srgbClr val="EFE8FA"/>
          </a:solidFill>
          <a:ln w="12700">
            <a:solidFill>
              <a:srgbClr val="EFE8F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733288" y="1645920"/>
            <a:ext cx="822960" cy="822960"/>
          </a:xfrm>
          <a:prstGeom prst="ellipse">
            <a:avLst/>
          </a:prstGeom>
          <a:solidFill>
            <a:srgbClr val="C4568A"/>
          </a:solidFill>
          <a:ln w="12700">
            <a:solidFill>
              <a:srgbClr val="C4568A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9028" y="1851660"/>
            <a:ext cx="411480" cy="41148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434840" y="260604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456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Misionales</a:t>
            </a:r>
            <a:endParaRPr lang="en-US" sz="2200" dirty="0"/>
          </a:p>
        </p:txBody>
      </p:sp>
      <p:sp>
        <p:nvSpPr>
          <p:cNvPr id="15" name="Text 11"/>
          <p:cNvSpPr txBox="1"/>
          <p:nvPr/>
        </p:nvSpPr>
        <p:spPr>
          <a:xfrm>
            <a:off x="4709160" y="3200400"/>
            <a:ext cx="2926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 a proveedores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Vitrina y exhibición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 y asesoría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Venta, cobro y domicilio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4709160" y="5257800"/>
            <a:ext cx="28803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9050">
            <a:solidFill>
              <a:srgbClr val="C4568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800600" y="5285232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45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Buena atención, pocas clientas nuevas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7927848" y="3566160"/>
            <a:ext cx="329184" cy="411480"/>
          </a:xfrm>
          <a:prstGeom prst="rightArrow">
            <a:avLst/>
          </a:prstGeom>
          <a:solidFill>
            <a:srgbClr val="9A86C2"/>
          </a:solidFill>
          <a:ln w="12700">
            <a:solidFill>
              <a:srgbClr val="9A86C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321040" y="1417320"/>
            <a:ext cx="3429000" cy="4754880"/>
          </a:xfrm>
          <a:prstGeom prst="roundRect">
            <a:avLst>
              <a:gd name="adj" fmla="val 3200"/>
            </a:avLst>
          </a:prstGeom>
          <a:solidFill>
            <a:srgbClr val="EFE8FA"/>
          </a:solidFill>
          <a:ln w="12700">
            <a:solidFill>
              <a:srgbClr val="EFE8F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9619488" y="1645920"/>
            <a:ext cx="822960" cy="822960"/>
          </a:xfrm>
          <a:prstGeom prst="ellipse">
            <a:avLst/>
          </a:prstGeom>
          <a:solidFill>
            <a:srgbClr val="2F9A6A"/>
          </a:solidFill>
          <a:ln w="12700">
            <a:solidFill>
              <a:srgbClr val="2F9A6A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5228" y="1851660"/>
            <a:ext cx="411480" cy="41148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321040" y="260604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9A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apoyo</a:t>
            </a:r>
            <a:endParaRPr lang="en-US" sz="2200" dirty="0"/>
          </a:p>
        </p:txBody>
      </p:sp>
      <p:sp>
        <p:nvSpPr>
          <p:cNvPr id="23" name="Text 18"/>
          <p:cNvSpPr txBox="1"/>
          <p:nvPr/>
        </p:nvSpPr>
        <p:spPr>
          <a:xfrm>
            <a:off x="8595360" y="3200400"/>
            <a:ext cx="2926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de inventario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 y registro de ventas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Redes sociales y WhatsApp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Aseo del local</a:t>
            </a:r>
            <a:endParaRPr lang="en-US" sz="1500" dirty="0"/>
          </a:p>
        </p:txBody>
      </p:sp>
      <p:sp>
        <p:nvSpPr>
          <p:cNvPr id="24" name="Shape 19"/>
          <p:cNvSpPr/>
          <p:nvPr/>
        </p:nvSpPr>
        <p:spPr>
          <a:xfrm>
            <a:off x="8595360" y="5257800"/>
            <a:ext cx="28803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9050">
            <a:solidFill>
              <a:srgbClr val="2F9A6A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686800" y="5285232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2F9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registros, redes inactivas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888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¿Qué falla? Diagrama causa-efecto</a:t>
            </a:r>
            <a:endParaRPr lang="en-US" sz="3600" dirty="0"/>
          </a:p>
        </p:txBody>
      </p:sp>
      <p:pic>
        <p:nvPicPr>
          <p:cNvPr id="3" name="Image 0" descr="/home/user/Trabjo-De-eEstudio/Actividad Alva instructora Luna de Cristal/Diagrama_causa_efecto_Luna_de_Cris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829800" y="2011680"/>
            <a:ext cx="1828800" cy="3291840"/>
          </a:xfrm>
          <a:prstGeom prst="roundRect">
            <a:avLst>
              <a:gd name="adj" fmla="val 6000"/>
            </a:avLst>
          </a:prstGeom>
          <a:solidFill>
            <a:srgbClr val="3B2A5C"/>
          </a:solidFill>
          <a:ln w="12700">
            <a:solidFill>
              <a:srgbClr val="3B2A5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9966960" y="2194560"/>
            <a:ext cx="15544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5E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 clave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no es el producto: es que casi nadie conoce la tienda y no se miden los resultados.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888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Necesidades de los clientes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2400"/>
            </a:avLst>
          </a:prstGeom>
          <a:solidFill>
            <a:srgbClr val="EFE8FA"/>
          </a:solidFill>
          <a:ln w="12700">
            <a:solidFill>
              <a:srgbClr val="EFE8F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1737360"/>
            <a:ext cx="914400" cy="914400"/>
          </a:xfrm>
          <a:prstGeom prst="ellipse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96596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011680" y="17830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6B4F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Clientes internos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2011680" y="22677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dueña y la familia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3017520"/>
            <a:ext cx="4572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Apoyo con lo digital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tiempo para atender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claros para decidir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 sencillas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217920" y="1463040"/>
            <a:ext cx="5394960" cy="4572000"/>
          </a:xfrm>
          <a:prstGeom prst="roundRect">
            <a:avLst>
              <a:gd name="adj" fmla="val 2400"/>
            </a:avLst>
          </a:prstGeom>
          <a:solidFill>
            <a:srgbClr val="EFE8FA"/>
          </a:solidFill>
          <a:ln w="12700">
            <a:solidFill>
              <a:srgbClr val="EFE8F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83680" y="1737360"/>
            <a:ext cx="914400" cy="914400"/>
          </a:xfrm>
          <a:prstGeom prst="ellipse">
            <a:avLst/>
          </a:prstGeom>
          <a:solidFill>
            <a:srgbClr val="C4568A"/>
          </a:solidFill>
          <a:ln w="12700">
            <a:solidFill>
              <a:srgbClr val="C4568A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96596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680960" y="17830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C456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Clientes externos</a:t>
            </a:r>
            <a:endParaRPr lang="en-US" sz="2400" dirty="0"/>
          </a:p>
        </p:txBody>
      </p:sp>
      <p:sp>
        <p:nvSpPr>
          <p:cNvPr id="13" name="Text 9"/>
          <p:cNvSpPr txBox="1"/>
          <p:nvPr/>
        </p:nvSpPr>
        <p:spPr>
          <a:xfrm>
            <a:off x="7680960" y="22677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clientas de Yopal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6675120" y="3017520"/>
            <a:ext cx="4572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productos y precios antes de ir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rápida por WhatsApp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Domicilio y asesoría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Novedades y promociones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888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Ideas creativas e innovadoras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EFE8FA"/>
          </a:solidFill>
          <a:ln w="12700">
            <a:solidFill>
              <a:srgbClr val="EFE8F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737360"/>
            <a:ext cx="822960" cy="822960"/>
          </a:xfrm>
          <a:prstGeom prst="ellipse">
            <a:avLst/>
          </a:prstGeom>
          <a:solidFill>
            <a:srgbClr val="3B2A5C"/>
          </a:solidFill>
          <a:ln w="12700">
            <a:solidFill>
              <a:srgbClr val="3B2A5C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943100"/>
            <a:ext cx="411480" cy="411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178308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Jueves de Luna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15 % en 5 prendas quietas, solo ese día.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343400" y="14630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EFE8FA"/>
          </a:solidFill>
          <a:ln w="12700">
            <a:solidFill>
              <a:srgbClr val="EFE8F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17720" y="1737360"/>
            <a:ext cx="822960" cy="822960"/>
          </a:xfrm>
          <a:prstGeom prst="ellipse">
            <a:avLst/>
          </a:prstGeom>
          <a:solidFill>
            <a:srgbClr val="C4568A"/>
          </a:solidFill>
          <a:ln w="12700">
            <a:solidFill>
              <a:srgbClr val="C4568A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3460" y="194310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577840" y="178308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 con tu amiga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4617720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8 % para las dos con compra mínima.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8138160" y="14630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EFE8FA"/>
          </a:solidFill>
          <a:ln w="12700">
            <a:solidFill>
              <a:srgbClr val="EFE8F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412480" y="1737360"/>
            <a:ext cx="822960" cy="822960"/>
          </a:xfrm>
          <a:prstGeom prst="ellipse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8220" y="1943100"/>
            <a:ext cx="411480" cy="4114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372600" y="178308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Muestras de perfume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412480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Probar gratis y volver por el frasco.</a:t>
            </a:r>
            <a:endParaRPr lang="en-US" sz="1500" dirty="0"/>
          </a:p>
        </p:txBody>
      </p:sp>
      <p:sp>
        <p:nvSpPr>
          <p:cNvPr id="18" name="Shape 13"/>
          <p:cNvSpPr/>
          <p:nvPr/>
        </p:nvSpPr>
        <p:spPr>
          <a:xfrm>
            <a:off x="548640" y="384048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EFE8FA"/>
          </a:solidFill>
          <a:ln w="12700">
            <a:solidFill>
              <a:srgbClr val="EFE8F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22960" y="4114800"/>
            <a:ext cx="822960" cy="822960"/>
          </a:xfrm>
          <a:prstGeom prst="ellipse">
            <a:avLst/>
          </a:prstGeom>
          <a:solidFill>
            <a:srgbClr val="D9A520"/>
          </a:solidFill>
          <a:ln w="12700">
            <a:solidFill>
              <a:srgbClr val="D9A520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" y="4320540"/>
            <a:ext cx="411480" cy="41148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783080" y="416052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Combos Hechizo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50749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Prenda + perfume con un regalo.</a:t>
            </a:r>
            <a:endParaRPr lang="en-US" sz="1500" dirty="0"/>
          </a:p>
        </p:txBody>
      </p:sp>
      <p:sp>
        <p:nvSpPr>
          <p:cNvPr id="23" name="Shape 17"/>
          <p:cNvSpPr/>
          <p:nvPr/>
        </p:nvSpPr>
        <p:spPr>
          <a:xfrm>
            <a:off x="4343400" y="384048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EFE8FA"/>
          </a:solidFill>
          <a:ln w="12700">
            <a:solidFill>
              <a:srgbClr val="EFE8F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4617720" y="4114800"/>
            <a:ext cx="822960" cy="822960"/>
          </a:xfrm>
          <a:prstGeom prst="ellipse">
            <a:avLst/>
          </a:prstGeom>
          <a:solidFill>
            <a:srgbClr val="2F9A6A"/>
          </a:solidFill>
          <a:ln w="12700">
            <a:solidFill>
              <a:srgbClr val="2F9A6A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3460" y="4320540"/>
            <a:ext cx="411480" cy="4114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577840" y="416052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Maps + reseñas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4617720" y="50749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Aparecer cuando buscan en el celular.</a:t>
            </a:r>
            <a:endParaRPr lang="en-US" sz="1500" dirty="0"/>
          </a:p>
        </p:txBody>
      </p:sp>
      <p:sp>
        <p:nvSpPr>
          <p:cNvPr id="28" name="Shape 21"/>
          <p:cNvSpPr/>
          <p:nvPr/>
        </p:nvSpPr>
        <p:spPr>
          <a:xfrm>
            <a:off x="8138160" y="384048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EFE8FA"/>
          </a:solidFill>
          <a:ln w="12700">
            <a:solidFill>
              <a:srgbClr val="EFE8F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8412480" y="4114800"/>
            <a:ext cx="822960" cy="822960"/>
          </a:xfrm>
          <a:prstGeom prst="ellipse">
            <a:avLst/>
          </a:prstGeom>
          <a:solidFill>
            <a:srgbClr val="9A86C2"/>
          </a:solidFill>
          <a:ln w="12700">
            <a:solidFill>
              <a:srgbClr val="9A86C2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18220" y="4320540"/>
            <a:ext cx="411480" cy="41148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372600" y="416052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Inteligencia artificial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8412480" y="50749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Fotos y videos profesionales gratis.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888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Plan de acción: 30 días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097280" y="2148840"/>
            <a:ext cx="9966960" cy="0"/>
          </a:xfrm>
          <a:prstGeom prst="line">
            <a:avLst/>
          </a:prstGeom>
          <a:noFill/>
          <a:ln w="50800">
            <a:solidFill>
              <a:srgbClr val="9A86C2"/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1325880" y="1600200"/>
            <a:ext cx="1097280" cy="1097280"/>
          </a:xfrm>
          <a:prstGeom prst="ellipse">
            <a:avLst/>
          </a:prstGeom>
          <a:solidFill>
            <a:srgbClr val="3B2A5C"/>
          </a:solidFill>
          <a:ln w="12700">
            <a:solidFill>
              <a:srgbClr val="3B2A5C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0200" y="1874520"/>
            <a:ext cx="548640" cy="548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28346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Semana 1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2461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3749040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EFE8FA"/>
          </a:solidFill>
          <a:ln w="12700">
            <a:solidFill>
              <a:srgbClr val="EFE8F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731520" y="3931920"/>
            <a:ext cx="2331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Business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Maps y fotos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Vitrina "Octubre Embrujado"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1.er Jueves de Luna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160520" y="1600200"/>
            <a:ext cx="1097280" cy="1097280"/>
          </a:xfrm>
          <a:prstGeom prst="ellipse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874520"/>
            <a:ext cx="548640" cy="5486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383280" y="28346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4F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Semana 2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3383280" y="32461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Tracción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3383280" y="3749040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EFE8FA"/>
          </a:solidFill>
          <a:ln w="12700">
            <a:solidFill>
              <a:srgbClr val="EFE8F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3566160" y="3931920"/>
            <a:ext cx="2331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"Ven con tu amiga"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Pedir reseñas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 diario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6995160" y="1600200"/>
            <a:ext cx="1097280" cy="1097280"/>
          </a:xfrm>
          <a:prstGeom prst="ellipse">
            <a:avLst/>
          </a:prstGeom>
          <a:solidFill>
            <a:srgbClr val="C4568A"/>
          </a:solidFill>
          <a:ln w="12700">
            <a:solidFill>
              <a:srgbClr val="C45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1874520"/>
            <a:ext cx="548640" cy="54864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217920" y="28346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456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Semana 3</a:t>
            </a:r>
            <a:endParaRPr lang="en-US" sz="2000" dirty="0"/>
          </a:p>
        </p:txBody>
      </p:sp>
      <p:sp>
        <p:nvSpPr>
          <p:cNvPr id="19" name="Text 14"/>
          <p:cNvSpPr txBox="1"/>
          <p:nvPr/>
        </p:nvSpPr>
        <p:spPr>
          <a:xfrm>
            <a:off x="6217920" y="32461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Halloween</a:t>
            </a:r>
            <a:endParaRPr lang="en-US" sz="1500" dirty="0"/>
          </a:p>
        </p:txBody>
      </p:sp>
      <p:sp>
        <p:nvSpPr>
          <p:cNvPr id="20" name="Shape 15"/>
          <p:cNvSpPr/>
          <p:nvPr/>
        </p:nvSpPr>
        <p:spPr>
          <a:xfrm>
            <a:off x="6217920" y="3749040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EFE8FA"/>
          </a:solidFill>
          <a:ln w="12700">
            <a:solidFill>
              <a:srgbClr val="EFE8F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Text 16"/>
          <p:cNvSpPr txBox="1"/>
          <p:nvPr/>
        </p:nvSpPr>
        <p:spPr>
          <a:xfrm>
            <a:off x="6400800" y="3931920"/>
            <a:ext cx="2331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 regresiva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Combos Hechizo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resultados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9829800" y="1600200"/>
            <a:ext cx="1097280" cy="1097280"/>
          </a:xfrm>
          <a:prstGeom prst="ellipse">
            <a:avLst/>
          </a:prstGeom>
          <a:solidFill>
            <a:srgbClr val="2F9A6A"/>
          </a:solidFill>
          <a:ln w="12700">
            <a:solidFill>
              <a:srgbClr val="2F9A6A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04120" y="1874520"/>
            <a:ext cx="548640" cy="54864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9052560" y="28346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F9A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Semana 4+</a:t>
            </a:r>
            <a:endParaRPr lang="en-US" sz="2000" dirty="0"/>
          </a:p>
        </p:txBody>
      </p:sp>
      <p:sp>
        <p:nvSpPr>
          <p:cNvPr id="25" name="Text 19"/>
          <p:cNvSpPr txBox="1"/>
          <p:nvPr/>
        </p:nvSpPr>
        <p:spPr>
          <a:xfrm>
            <a:off x="9052560" y="32461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Crecer</a:t>
            </a:r>
            <a:endParaRPr lang="en-US" sz="1500" dirty="0"/>
          </a:p>
        </p:txBody>
      </p:sp>
      <p:sp>
        <p:nvSpPr>
          <p:cNvPr id="26" name="Shape 20"/>
          <p:cNvSpPr/>
          <p:nvPr/>
        </p:nvSpPr>
        <p:spPr>
          <a:xfrm>
            <a:off x="9052560" y="3749040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EFE8FA"/>
          </a:solidFill>
          <a:ln w="12700">
            <a:solidFill>
              <a:srgbClr val="EFE8F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9235440" y="3931920"/>
            <a:ext cx="2331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Ajustar promociones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Friday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Temporada de diciembre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888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Mi conclusión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5E6A8"/>
                </a:solidFill>
              </a:rPr>
              <a:t>Buen producto + visibilidad + datos = crecimiento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Innovar no siempre requiere dinero: con creatividad y herramientas gratuitas, Luna de Cristal puede llegar a más clientas.</a:t>
            </a:r>
            <a:endParaRPr lang="en-US" sz="2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0" y="2011680"/>
            <a:ext cx="2194560" cy="21945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Luna de Cristal">
  <a:themeElements>
    <a:clrScheme name="Luna de Cristal">
      <a:dk1>
        <a:srgbClr val="1F1A2E"/>
      </a:dk1>
      <a:lt1>
        <a:srgbClr val="FFFFFF"/>
      </a:lt1>
      <a:dk2>
        <a:srgbClr val="3B2A5C"/>
      </a:dk2>
      <a:lt2>
        <a:srgbClr val="EFE8FA"/>
      </a:lt2>
      <a:accent1>
        <a:srgbClr val="6B4FA0"/>
      </a:accent1>
      <a:accent2>
        <a:srgbClr val="C4568A"/>
      </a:accent2>
      <a:accent3>
        <a:srgbClr val="D9A520"/>
      </a:accent3>
      <a:accent4>
        <a:srgbClr val="2F9A6A"/>
      </a:accent4>
      <a:accent5>
        <a:srgbClr val="9A86C2"/>
      </a:accent5>
      <a:accent6>
        <a:srgbClr val="F5E6A8"/>
      </a:accent6>
      <a:hlink>
        <a:srgbClr val="6B4FA0"/>
      </a:hlink>
      <a:folHlink>
        <a:srgbClr val="C4568A"/>
      </a:folHlink>
    </a:clrScheme>
    <a:fontScheme name="Luna de Cristal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Visual Thinking - Luna de Cristal</dc:title>
  <dc:subject>PptxGenJS Presentation</dc:subject>
  <dc:creator>Sebastián</dc:creator>
  <cp:lastModifiedBy>Sebastián</cp:lastModifiedBy>
  <cp:revision>1</cp:revision>
  <dcterms:created xsi:type="dcterms:W3CDTF">2026-10-13T15:18:54Z</dcterms:created>
  <dcterms:modified xsi:type="dcterms:W3CDTF">2026-10-13T15:18:54Z</dcterms:modified>
</cp:coreProperties>
</file>