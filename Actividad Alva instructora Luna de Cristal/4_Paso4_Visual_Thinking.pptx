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icio" id="{26ada13f-310c-e170-c4cb-fc1586cbcb77}">
          <p14:sldIdLst>
            <p14:sldId id="256"/>
          </p14:sldIdLst>
        </p14:section>
        <p14:section name="Diagnóstico" id="{b5d7b0f6-2c53-ce1c-e8c1-c77924de1ed2}">
          <p14:sldIdLst>
            <p14:sldId id="257"/>
            <p14:sldId id="258"/>
            <p14:sldId id="259"/>
          </p14:sldIdLst>
        </p14:section>
        <p14:section name="Análisis" id="{cc041eee-fc40-4e10-1e54-ce2ca2c5a4a1}">
          <p14:sldIdLst>
            <p14:sldId id="260"/>
            <p14:sldId id="261"/>
          </p14:sldIdLst>
        </p14:section>
        <p14:section name="Innovación" id="{93a9d1a7-de5c-7173-1f99-3d3edbd5a521}">
          <p14:sldIdLst>
            <p14:sldId id="262"/>
            <p14:sldId id="263"/>
          </p14:sldIdLst>
        </p14:section>
        <p14:section name="Cierre" id="{c29952ec-b7b7-4b59-7f7f-c2fe21c35ce9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Presento el diagnóstico de Luna de Cristal, la tienda de ropa para dama y perfumes de mi familia en Yopal, organizado con la técnica de Visual Thinking.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mapa resume todo el trabajo: en el centro la empresa; arriba quiénes somos y qué falla; abajo las ideas creativas, el plan de 30 días y mi conclusión.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Luna de Cristal es un negocio familiar de comercio al por menor. Su gran fortaleza es el producto: ropa y perfumes de calidad con buen margen, más un local físico y atención cercana.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Clasifiqué los procesos en estratégicos, misionales y de apoyo. La atención es la gran fortaleza, pero inventario, ventas y facturación se llevan a mano, sin sistema POS.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efecto es que las ventas están por debajo de su potencial. Las causas más fuertes son el bajo alcance en redes, los procesos manuales y la falta de datos; casi todas se pueden corregir con poca inversión.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colaboradores piden mejorar la tecnología, las clientas valoran estilo, precio y atención y compran cada vez más por redes, y los proveedores piden más retroalimentación.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no hay presupuesto, la creatividad es la clave: promociones controladas que mueven el inventario y herramientas gratuitas para darse a conocer.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plan va por semanas: primero la base digital, luego atraer clientas, aprovechar Halloween y prepararse para Black Friday y diciembre. Cada día se miden mensajes, ventas y reseñas.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Aquí dices tu conclusión personal con tus propias palabras: qué aprendiste al investigar el negocio de tu familia y qué te comprometes a hacer.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 osc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768096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768096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888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888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Visual Thinking: Luna de Cristal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Paso 4 · Actividad de reflexión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Aprendiz: Eimer Sebastián Rojas Cañas · Instructora: Alba Rocío Cuchigay Rosas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SENA · Tecnólogo en Gestión del Desarrollo Administrativo e Innovación · Yopal 2026</a:t>
            </a:r>
            <a:endParaRPr lang="en-US" sz="2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1737360"/>
            <a:ext cx="2651760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El diagnóstico en una sola imagen</a:t>
            </a:r>
            <a:endParaRPr lang="en-US" sz="3600" dirty="0"/>
          </a:p>
        </p:txBody>
      </p:sp>
      <p:pic>
        <p:nvPicPr>
          <p:cNvPr id="3" name="Image 0" descr="/home/user/Trabjo-De-eEstudio/Actividad Alva instructora Luna de Cristal/Mapa_visual_ejemplo_Luna_de_Cris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5688" y="1325880"/>
            <a:ext cx="8046720" cy="5029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888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¿Quiénes somos? La realidad de la empresa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77240" cy="777240"/>
          </a:xfrm>
          <a:prstGeom prst="ellipse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950" y="1657350"/>
            <a:ext cx="388620" cy="3886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54480" y="1444752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Microempresa familiar (2026)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184708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 19 # 23-57, Yopal. Dueño: Sebastián. Atienden su mamá (administra) y una prima.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2651760"/>
            <a:ext cx="777240" cy="777240"/>
          </a:xfrm>
          <a:prstGeom prst="ellipse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2846070"/>
            <a:ext cx="388620" cy="3886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554480" y="2633472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Ropa, perfumes y correas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1554480" y="303580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Jeans, vestidos, faldas, shorts y bodys para mujeres de 16 a 60 años.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3840480"/>
            <a:ext cx="777240" cy="777240"/>
          </a:xfrm>
          <a:prstGeom prst="ellipse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950" y="4034790"/>
            <a:ext cx="388620" cy="3886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554480" y="3822192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clientas al día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1554480" y="422452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Vende más los viernes, sábados y fechas especiales.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548640" y="5029200"/>
            <a:ext cx="777240" cy="777240"/>
          </a:xfrm>
          <a:prstGeom prst="ellipse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950" y="5223510"/>
            <a:ext cx="388620" cy="3886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554480" y="5010912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Comercio al por menor</a:t>
            </a:r>
            <a:endParaRPr lang="en-US" sz="1800" dirty="0"/>
          </a:p>
        </p:txBody>
      </p:sp>
      <p:sp>
        <p:nvSpPr>
          <p:cNvPr id="18" name="Text 12"/>
          <p:cNvSpPr txBox="1"/>
          <p:nvPr/>
        </p:nvSpPr>
        <p:spPr>
          <a:xfrm>
            <a:off x="1554480" y="541324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CIIU 4771 (prendas de vestir) y 4773 (cosméticos y perfumes).</a:t>
            </a:r>
            <a:endParaRPr lang="en-US" sz="1400" dirty="0"/>
          </a:p>
        </p:txBody>
      </p:sp>
      <p:sp>
        <p:nvSpPr>
          <p:cNvPr id="19" name="Shape 13"/>
          <p:cNvSpPr/>
          <p:nvPr/>
        </p:nvSpPr>
        <p:spPr>
          <a:xfrm>
            <a:off x="7132320" y="1463040"/>
            <a:ext cx="4480560" cy="4572000"/>
          </a:xfrm>
          <a:prstGeom prst="roundRect">
            <a:avLst>
              <a:gd name="adj" fmla="val 2449"/>
            </a:avLst>
          </a:prstGeom>
          <a:solidFill>
            <a:srgbClr val="EFE8FA"/>
          </a:solidFill>
          <a:ln w="12700">
            <a:solidFill>
              <a:srgbClr val="EFE8F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0" y="1737360"/>
            <a:ext cx="457200" cy="45720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8046720" y="175564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Fortalezas</a:t>
            </a:r>
            <a:endParaRPr lang="en-US" sz="2200" dirty="0"/>
          </a:p>
        </p:txBody>
      </p:sp>
      <p:sp>
        <p:nvSpPr>
          <p:cNvPr id="22" name="Text 15"/>
          <p:cNvSpPr txBox="1"/>
          <p:nvPr/>
        </p:nvSpPr>
        <p:spPr>
          <a:xfrm>
            <a:off x="7452360" y="2423160"/>
            <a:ext cx="39319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 cercana y personalizada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93,3 % de las clientas la recomienda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Precios cómodos: pantalón $97.000 vs. $120.000-150.000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Ubicación céntrica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motivado (100 %)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Proveedores satisfechos (100 % seguiría)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888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Procesos de la empresa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429000" cy="4754880"/>
          </a:xfrm>
          <a:prstGeom prst="roundRect">
            <a:avLst>
              <a:gd name="adj" fmla="val 3200"/>
            </a:avLst>
          </a:prstGeom>
          <a:solidFill>
            <a:srgbClr val="EFE8FA"/>
          </a:solidFill>
          <a:ln w="12700">
            <a:solidFill>
              <a:srgbClr val="EFE8F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847088" y="1645920"/>
            <a:ext cx="822960" cy="822960"/>
          </a:xfrm>
          <a:prstGeom prst="ellipse">
            <a:avLst/>
          </a:prstGeom>
          <a:solidFill>
            <a:srgbClr val="3B2A5C"/>
          </a:solidFill>
          <a:ln w="12700">
            <a:solidFill>
              <a:srgbClr val="3B2A5C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52828" y="1851660"/>
            <a:ext cx="411480" cy="411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260604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Estratégicos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200400"/>
            <a:ext cx="2926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Planeación de compras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Precios y promociones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Visión 2030: físico + digital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22960" y="5257800"/>
            <a:ext cx="28803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9050">
            <a:solidFill>
              <a:srgbClr val="3B2A5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14400" y="5285232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indicadores ni plan escrito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041648" y="3566160"/>
            <a:ext cx="329184" cy="411480"/>
          </a:xfrm>
          <a:prstGeom prst="rightArrow">
            <a:avLst/>
          </a:prstGeom>
          <a:solidFill>
            <a:srgbClr val="9A86C2"/>
          </a:solidFill>
          <a:ln w="12700">
            <a:solidFill>
              <a:srgbClr val="9A86C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34840" y="1417320"/>
            <a:ext cx="3429000" cy="4754880"/>
          </a:xfrm>
          <a:prstGeom prst="roundRect">
            <a:avLst>
              <a:gd name="adj" fmla="val 3200"/>
            </a:avLst>
          </a:prstGeom>
          <a:solidFill>
            <a:srgbClr val="EFE8FA"/>
          </a:solidFill>
          <a:ln w="12700">
            <a:solidFill>
              <a:srgbClr val="EFE8F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733288" y="1645920"/>
            <a:ext cx="822960" cy="822960"/>
          </a:xfrm>
          <a:prstGeom prst="ellipse">
            <a:avLst/>
          </a:prstGeom>
          <a:solidFill>
            <a:srgbClr val="C4568A"/>
          </a:solidFill>
          <a:ln w="12700">
            <a:solidFill>
              <a:srgbClr val="C4568A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9028" y="1851660"/>
            <a:ext cx="411480" cy="41148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434840" y="260604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456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Misionales</a:t>
            </a:r>
            <a:endParaRPr lang="en-US" sz="2200" dirty="0"/>
          </a:p>
        </p:txBody>
      </p:sp>
      <p:sp>
        <p:nvSpPr>
          <p:cNvPr id="15" name="Text 11"/>
          <p:cNvSpPr txBox="1"/>
          <p:nvPr/>
        </p:nvSpPr>
        <p:spPr>
          <a:xfrm>
            <a:off x="4709160" y="3200400"/>
            <a:ext cx="2926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 (Bogotá, Medellín, Shein)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Vitrina y exhibición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 personalizada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 física, redes y domicilio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4709160" y="5257800"/>
            <a:ext cx="28803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9050">
            <a:solidFill>
              <a:srgbClr val="C4568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800600" y="5285232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45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Buena atención, pocas clientas nuevas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7927848" y="3566160"/>
            <a:ext cx="329184" cy="411480"/>
          </a:xfrm>
          <a:prstGeom prst="rightArrow">
            <a:avLst/>
          </a:prstGeom>
          <a:solidFill>
            <a:srgbClr val="9A86C2"/>
          </a:solidFill>
          <a:ln w="12700">
            <a:solidFill>
              <a:srgbClr val="9A86C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321040" y="1417320"/>
            <a:ext cx="3429000" cy="4754880"/>
          </a:xfrm>
          <a:prstGeom prst="roundRect">
            <a:avLst>
              <a:gd name="adj" fmla="val 3200"/>
            </a:avLst>
          </a:prstGeom>
          <a:solidFill>
            <a:srgbClr val="EFE8FA"/>
          </a:solidFill>
          <a:ln w="12700">
            <a:solidFill>
              <a:srgbClr val="EFE8F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9619488" y="1645920"/>
            <a:ext cx="822960" cy="822960"/>
          </a:xfrm>
          <a:prstGeom prst="ellipse">
            <a:avLst/>
          </a:prstGeom>
          <a:solidFill>
            <a:srgbClr val="2F9A6A"/>
          </a:solidFill>
          <a:ln w="12700">
            <a:solidFill>
              <a:srgbClr val="2F9A6A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5228" y="1851660"/>
            <a:ext cx="411480" cy="41148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321040" y="260604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9A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apoyo</a:t>
            </a:r>
            <a:endParaRPr lang="en-US" sz="2200" dirty="0"/>
          </a:p>
        </p:txBody>
      </p:sp>
      <p:sp>
        <p:nvSpPr>
          <p:cNvPr id="23" name="Text 18"/>
          <p:cNvSpPr txBox="1"/>
          <p:nvPr/>
        </p:nvSpPr>
        <p:spPr>
          <a:xfrm>
            <a:off x="8595360" y="3200400"/>
            <a:ext cx="2926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Inventario y ventas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Facturación y caja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Redes y Meta Ads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Talento humano y SST</a:t>
            </a:r>
            <a:endParaRPr lang="en-US" sz="1500" dirty="0"/>
          </a:p>
        </p:txBody>
      </p:sp>
      <p:sp>
        <p:nvSpPr>
          <p:cNvPr id="24" name="Shape 19"/>
          <p:cNvSpPr/>
          <p:nvPr/>
        </p:nvSpPr>
        <p:spPr>
          <a:xfrm>
            <a:off x="8595360" y="5257800"/>
            <a:ext cx="28803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9050">
            <a:solidFill>
              <a:srgbClr val="2F9A6A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686800" y="5285232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2F9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a mano, sin POS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888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¿Qué falla? Diagrama causa-efecto</a:t>
            </a:r>
            <a:endParaRPr lang="en-US" sz="3600" dirty="0"/>
          </a:p>
        </p:txBody>
      </p:sp>
      <p:pic>
        <p:nvPicPr>
          <p:cNvPr id="3" name="Image 0" descr="/home/user/Trabjo-De-eEstudio/Actividad Alva instructora Luna de Cristal/Diagrama_causa_efecto_Luna_de_Cris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829800" y="2011680"/>
            <a:ext cx="1828800" cy="3291840"/>
          </a:xfrm>
          <a:prstGeom prst="roundRect">
            <a:avLst>
              <a:gd name="adj" fmla="val 6000"/>
            </a:avLst>
          </a:prstGeom>
          <a:solidFill>
            <a:srgbClr val="3B2A5C"/>
          </a:solidFill>
          <a:ln w="12700">
            <a:solidFill>
              <a:srgbClr val="3B2A5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9966960" y="2194560"/>
            <a:ext cx="15544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5E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 clave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no es el producto: es el poco alcance digital y que todo se maneja a mano.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888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Necesidades de clientes y proveedores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20440" cy="4572000"/>
          </a:xfrm>
          <a:prstGeom prst="roundRect">
            <a:avLst>
              <a:gd name="adj" fmla="val 3117"/>
            </a:avLst>
          </a:prstGeom>
          <a:solidFill>
            <a:srgbClr val="EFE8FA"/>
          </a:solidFill>
          <a:ln w="12700">
            <a:solidFill>
              <a:srgbClr val="EFE8F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828800" y="1691640"/>
            <a:ext cx="914400" cy="914400"/>
          </a:xfrm>
          <a:prstGeom prst="ellipse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57400" y="192024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274320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B4F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Internos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20040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 y prima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794760"/>
            <a:ext cx="3017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100 %: mejorar la tecnología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 y organigrama sin conocer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claros para decidir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343400" y="1463040"/>
            <a:ext cx="3520440" cy="4572000"/>
          </a:xfrm>
          <a:prstGeom prst="roundRect">
            <a:avLst>
              <a:gd name="adj" fmla="val 3117"/>
            </a:avLst>
          </a:prstGeom>
          <a:solidFill>
            <a:srgbClr val="EFE8FA"/>
          </a:solidFill>
          <a:ln w="12700">
            <a:solidFill>
              <a:srgbClr val="EFE8F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623560" y="1691640"/>
            <a:ext cx="914400" cy="914400"/>
          </a:xfrm>
          <a:prstGeom prst="ellipse">
            <a:avLst/>
          </a:prstGeom>
          <a:solidFill>
            <a:srgbClr val="C4568A"/>
          </a:solidFill>
          <a:ln w="12700">
            <a:solidFill>
              <a:srgbClr val="C4568A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92024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343400" y="274320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456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Externos</a:t>
            </a:r>
            <a:endParaRPr lang="en-US" sz="2400" dirty="0"/>
          </a:p>
        </p:txBody>
      </p:sp>
      <p:sp>
        <p:nvSpPr>
          <p:cNvPr id="13" name="Text 9"/>
          <p:cNvSpPr txBox="1"/>
          <p:nvPr/>
        </p:nvSpPr>
        <p:spPr>
          <a:xfrm>
            <a:off x="4343400" y="320040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clientas encuestadas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617720" y="3794760"/>
            <a:ext cx="3017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Estilo, buen precio y atención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productos en redes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rápida y domicilio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8138160" y="1463040"/>
            <a:ext cx="3520440" cy="4572000"/>
          </a:xfrm>
          <a:prstGeom prst="roundRect">
            <a:avLst>
              <a:gd name="adj" fmla="val 3117"/>
            </a:avLst>
          </a:prstGeom>
          <a:solidFill>
            <a:srgbClr val="EFE8FA"/>
          </a:solidFill>
          <a:ln w="12700">
            <a:solidFill>
              <a:srgbClr val="EFE8F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418320" y="1691640"/>
            <a:ext cx="914400" cy="914400"/>
          </a:xfrm>
          <a:prstGeom prst="ellipse">
            <a:avLst/>
          </a:prstGeom>
          <a:solidFill>
            <a:srgbClr val="2F9A6A"/>
          </a:solidFill>
          <a:ln w="12700">
            <a:solidFill>
              <a:srgbClr val="2F9A6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1920240"/>
            <a:ext cx="457200" cy="4572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138160" y="274320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F9A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Proveedores</a:t>
            </a:r>
            <a:endParaRPr lang="en-US" sz="2400" dirty="0"/>
          </a:p>
        </p:txBody>
      </p:sp>
      <p:sp>
        <p:nvSpPr>
          <p:cNvPr id="19" name="Text 14"/>
          <p:cNvSpPr txBox="1"/>
          <p:nvPr/>
        </p:nvSpPr>
        <p:spPr>
          <a:xfrm>
            <a:off x="8138160" y="320040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proveedores encuestados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8412480" y="3794760"/>
            <a:ext cx="3017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 más ágil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Retroalimentación (60 %: a veces)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Compras planeadas con datos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888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Ideas creativas e innovadoras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EFE8FA"/>
          </a:solidFill>
          <a:ln w="12700">
            <a:solidFill>
              <a:srgbClr val="EFE8F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737360"/>
            <a:ext cx="822960" cy="822960"/>
          </a:xfrm>
          <a:prstGeom prst="ellipse">
            <a:avLst/>
          </a:prstGeom>
          <a:solidFill>
            <a:srgbClr val="3B2A5C"/>
          </a:solidFill>
          <a:ln w="12700">
            <a:solidFill>
              <a:srgbClr val="3B2A5C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1943100"/>
            <a:ext cx="411480" cy="411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178308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Jueves de Luna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697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15 % en 5 prendas quietas: mueve un día flojo.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343400" y="14630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EFE8FA"/>
          </a:solidFill>
          <a:ln w="12700">
            <a:solidFill>
              <a:srgbClr val="EFE8F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17720" y="1737360"/>
            <a:ext cx="822960" cy="822960"/>
          </a:xfrm>
          <a:prstGeom prst="ellipse">
            <a:avLst/>
          </a:prstGeom>
          <a:solidFill>
            <a:srgbClr val="C4568A"/>
          </a:solidFill>
          <a:ln w="12700">
            <a:solidFill>
              <a:srgbClr val="C4568A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3460" y="194310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577840" y="178308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 con tu amiga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4617720" y="2697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8 % para las dos con compra mínima.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8138160" y="14630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EFE8FA"/>
          </a:solidFill>
          <a:ln w="12700">
            <a:solidFill>
              <a:srgbClr val="EFE8F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412480" y="1737360"/>
            <a:ext cx="822960" cy="822960"/>
          </a:xfrm>
          <a:prstGeom prst="ellipse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8220" y="1943100"/>
            <a:ext cx="411480" cy="4114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372600" y="178308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Muestras de perfume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8412480" y="2697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Probar gratis y volver por el frasco.</a:t>
            </a:r>
            <a:endParaRPr lang="en-US" sz="1500" dirty="0"/>
          </a:p>
        </p:txBody>
      </p:sp>
      <p:sp>
        <p:nvSpPr>
          <p:cNvPr id="18" name="Shape 13"/>
          <p:cNvSpPr/>
          <p:nvPr/>
        </p:nvSpPr>
        <p:spPr>
          <a:xfrm>
            <a:off x="548640" y="384048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EFE8FA"/>
          </a:solidFill>
          <a:ln w="12700">
            <a:solidFill>
              <a:srgbClr val="EFE8F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822960" y="4114800"/>
            <a:ext cx="822960" cy="822960"/>
          </a:xfrm>
          <a:prstGeom prst="ellipse">
            <a:avLst/>
          </a:prstGeom>
          <a:solidFill>
            <a:srgbClr val="D9A520"/>
          </a:solidFill>
          <a:ln w="12700">
            <a:solidFill>
              <a:srgbClr val="D9A520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" y="4320540"/>
            <a:ext cx="411480" cy="41148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783080" y="416052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Portafolio digital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50749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de ropa, perfumes y correas con precios.</a:t>
            </a:r>
            <a:endParaRPr lang="en-US" sz="1500" dirty="0"/>
          </a:p>
        </p:txBody>
      </p:sp>
      <p:sp>
        <p:nvSpPr>
          <p:cNvPr id="23" name="Shape 17"/>
          <p:cNvSpPr/>
          <p:nvPr/>
        </p:nvSpPr>
        <p:spPr>
          <a:xfrm>
            <a:off x="4343400" y="384048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EFE8FA"/>
          </a:solidFill>
          <a:ln w="12700">
            <a:solidFill>
              <a:srgbClr val="EFE8F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4617720" y="4114800"/>
            <a:ext cx="822960" cy="822960"/>
          </a:xfrm>
          <a:prstGeom prst="ellipse">
            <a:avLst/>
          </a:prstGeom>
          <a:solidFill>
            <a:srgbClr val="2F9A6A"/>
          </a:solidFill>
          <a:ln w="12700">
            <a:solidFill>
              <a:srgbClr val="2F9A6A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3460" y="4320540"/>
            <a:ext cx="411480" cy="4114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577840" y="416052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Maps + reseñas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4617720" y="50749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Aparecer cuando buscan en el celular.</a:t>
            </a:r>
            <a:endParaRPr lang="en-US" sz="1500" dirty="0"/>
          </a:p>
        </p:txBody>
      </p:sp>
      <p:sp>
        <p:nvSpPr>
          <p:cNvPr id="28" name="Shape 21"/>
          <p:cNvSpPr/>
          <p:nvPr/>
        </p:nvSpPr>
        <p:spPr>
          <a:xfrm>
            <a:off x="8138160" y="384048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EFE8FA"/>
          </a:solidFill>
          <a:ln w="12700">
            <a:solidFill>
              <a:srgbClr val="EFE8F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8412480" y="4114800"/>
            <a:ext cx="822960" cy="822960"/>
          </a:xfrm>
          <a:prstGeom prst="ellipse">
            <a:avLst/>
          </a:prstGeom>
          <a:solidFill>
            <a:srgbClr val="9A86C2"/>
          </a:solidFill>
          <a:ln w="12700">
            <a:solidFill>
              <a:srgbClr val="9A86C2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18220" y="4320540"/>
            <a:ext cx="411480" cy="41148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372600" y="416052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Inteligencia artificial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8412480" y="50749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Fotos y videos profesionales gratis.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888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Plan de acción: 30 días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097280" y="2148840"/>
            <a:ext cx="9966960" cy="0"/>
          </a:xfrm>
          <a:prstGeom prst="line">
            <a:avLst/>
          </a:prstGeom>
          <a:noFill/>
          <a:ln w="50800">
            <a:solidFill>
              <a:srgbClr val="9A86C2"/>
            </a:solidFill>
            <a:prstDash val="solid"/>
            <a:tailEnd type="triangle"/>
          </a:ln>
        </p:spPr>
      </p:sp>
      <p:sp>
        <p:nvSpPr>
          <p:cNvPr id="4" name="Shape 2"/>
          <p:cNvSpPr/>
          <p:nvPr/>
        </p:nvSpPr>
        <p:spPr>
          <a:xfrm>
            <a:off x="1325880" y="1600200"/>
            <a:ext cx="1097280" cy="1097280"/>
          </a:xfrm>
          <a:prstGeom prst="ellipse">
            <a:avLst/>
          </a:prstGeom>
          <a:solidFill>
            <a:srgbClr val="3B2A5C"/>
          </a:solidFill>
          <a:ln w="12700">
            <a:solidFill>
              <a:srgbClr val="3B2A5C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0200" y="1874520"/>
            <a:ext cx="548640" cy="548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28346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Semana 1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2461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3749040"/>
            <a:ext cx="2651760" cy="2377440"/>
          </a:xfrm>
          <a:prstGeom prst="roundRect">
            <a:avLst>
              <a:gd name="adj" fmla="val 4615"/>
            </a:avLst>
          </a:prstGeom>
          <a:solidFill>
            <a:srgbClr val="EFE8FA"/>
          </a:solidFill>
          <a:ln w="12700">
            <a:solidFill>
              <a:srgbClr val="EFE8F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731520" y="3931920"/>
            <a:ext cx="2331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Business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Maps y fotos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Vitrina "Octubre Embrujado"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1.er Jueves de Luna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160520" y="1600200"/>
            <a:ext cx="1097280" cy="1097280"/>
          </a:xfrm>
          <a:prstGeom prst="ellipse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874520"/>
            <a:ext cx="548640" cy="5486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383280" y="28346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4F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Semana 2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3383280" y="32461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Tracción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3383280" y="3749040"/>
            <a:ext cx="2651760" cy="2377440"/>
          </a:xfrm>
          <a:prstGeom prst="roundRect">
            <a:avLst>
              <a:gd name="adj" fmla="val 4615"/>
            </a:avLst>
          </a:prstGeom>
          <a:solidFill>
            <a:srgbClr val="EFE8FA"/>
          </a:solidFill>
          <a:ln w="12700">
            <a:solidFill>
              <a:srgbClr val="EFE8F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3566160" y="3931920"/>
            <a:ext cx="2331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"Ven con tu amiga"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Pedir reseñas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 diario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6995160" y="1600200"/>
            <a:ext cx="1097280" cy="1097280"/>
          </a:xfrm>
          <a:prstGeom prst="ellipse">
            <a:avLst/>
          </a:prstGeom>
          <a:solidFill>
            <a:srgbClr val="C4568A"/>
          </a:solidFill>
          <a:ln w="12700">
            <a:solidFill>
              <a:srgbClr val="C45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1874520"/>
            <a:ext cx="548640" cy="54864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217920" y="28346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456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Semana 3</a:t>
            </a:r>
            <a:endParaRPr lang="en-US" sz="2000" dirty="0"/>
          </a:p>
        </p:txBody>
      </p:sp>
      <p:sp>
        <p:nvSpPr>
          <p:cNvPr id="19" name="Text 14"/>
          <p:cNvSpPr txBox="1"/>
          <p:nvPr/>
        </p:nvSpPr>
        <p:spPr>
          <a:xfrm>
            <a:off x="6217920" y="32461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Halloween</a:t>
            </a:r>
            <a:endParaRPr lang="en-US" sz="1500" dirty="0"/>
          </a:p>
        </p:txBody>
      </p:sp>
      <p:sp>
        <p:nvSpPr>
          <p:cNvPr id="20" name="Shape 15"/>
          <p:cNvSpPr/>
          <p:nvPr/>
        </p:nvSpPr>
        <p:spPr>
          <a:xfrm>
            <a:off x="6217920" y="3749040"/>
            <a:ext cx="2651760" cy="2377440"/>
          </a:xfrm>
          <a:prstGeom prst="roundRect">
            <a:avLst>
              <a:gd name="adj" fmla="val 4615"/>
            </a:avLst>
          </a:prstGeom>
          <a:solidFill>
            <a:srgbClr val="EFE8FA"/>
          </a:solidFill>
          <a:ln w="12700">
            <a:solidFill>
              <a:srgbClr val="EFE8F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Text 16"/>
          <p:cNvSpPr txBox="1"/>
          <p:nvPr/>
        </p:nvSpPr>
        <p:spPr>
          <a:xfrm>
            <a:off x="6400800" y="3931920"/>
            <a:ext cx="2331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 regresiva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Combos Hechizo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resultados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9829800" y="1600200"/>
            <a:ext cx="1097280" cy="1097280"/>
          </a:xfrm>
          <a:prstGeom prst="ellipse">
            <a:avLst/>
          </a:prstGeom>
          <a:solidFill>
            <a:srgbClr val="2F9A6A"/>
          </a:solidFill>
          <a:ln w="12700">
            <a:solidFill>
              <a:srgbClr val="2F9A6A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04120" y="1874520"/>
            <a:ext cx="548640" cy="54864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9052560" y="28346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F9A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Semana 4+</a:t>
            </a:r>
            <a:endParaRPr lang="en-US" sz="2000" dirty="0"/>
          </a:p>
        </p:txBody>
      </p:sp>
      <p:sp>
        <p:nvSpPr>
          <p:cNvPr id="25" name="Text 19"/>
          <p:cNvSpPr txBox="1"/>
          <p:nvPr/>
        </p:nvSpPr>
        <p:spPr>
          <a:xfrm>
            <a:off x="9052560" y="32461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Crecer</a:t>
            </a:r>
            <a:endParaRPr lang="en-US" sz="1500" dirty="0"/>
          </a:p>
        </p:txBody>
      </p:sp>
      <p:sp>
        <p:nvSpPr>
          <p:cNvPr id="26" name="Shape 20"/>
          <p:cNvSpPr/>
          <p:nvPr/>
        </p:nvSpPr>
        <p:spPr>
          <a:xfrm>
            <a:off x="9052560" y="3749040"/>
            <a:ext cx="2651760" cy="2377440"/>
          </a:xfrm>
          <a:prstGeom prst="roundRect">
            <a:avLst>
              <a:gd name="adj" fmla="val 4615"/>
            </a:avLst>
          </a:prstGeom>
          <a:solidFill>
            <a:srgbClr val="EFE8FA"/>
          </a:solidFill>
          <a:ln w="12700">
            <a:solidFill>
              <a:srgbClr val="EFE8F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7" name="Text 21"/>
          <p:cNvSpPr txBox="1"/>
          <p:nvPr/>
        </p:nvSpPr>
        <p:spPr>
          <a:xfrm>
            <a:off x="9235440" y="3931920"/>
            <a:ext cx="2331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Ajustar promociones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Friday y diciembre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inventario y POS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888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Mi conclusión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5E6A8"/>
                </a:solidFill>
              </a:rPr>
              <a:t>Buen producto + visibilidad + datos = crecimiento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Innovar no siempre requiere dinero: con creatividad y herramientas gratuitas, Luna de Cristal puede llegar a más clientas.</a:t>
            </a:r>
            <a:endParaRPr lang="en-US" sz="2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0" y="2011680"/>
            <a:ext cx="2194560" cy="21945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Luna de Cristal">
  <a:themeElements>
    <a:clrScheme name="Luna de Cristal">
      <a:dk1>
        <a:srgbClr val="1F1A2E"/>
      </a:dk1>
      <a:lt1>
        <a:srgbClr val="FFFFFF"/>
      </a:lt1>
      <a:dk2>
        <a:srgbClr val="3B2A5C"/>
      </a:dk2>
      <a:lt2>
        <a:srgbClr val="EFE8FA"/>
      </a:lt2>
      <a:accent1>
        <a:srgbClr val="6B4FA0"/>
      </a:accent1>
      <a:accent2>
        <a:srgbClr val="C4568A"/>
      </a:accent2>
      <a:accent3>
        <a:srgbClr val="D9A520"/>
      </a:accent3>
      <a:accent4>
        <a:srgbClr val="2F9A6A"/>
      </a:accent4>
      <a:accent5>
        <a:srgbClr val="9A86C2"/>
      </a:accent5>
      <a:accent6>
        <a:srgbClr val="F5E6A8"/>
      </a:accent6>
      <a:hlink>
        <a:srgbClr val="6B4FA0"/>
      </a:hlink>
      <a:folHlink>
        <a:srgbClr val="C4568A"/>
      </a:folHlink>
    </a:clrScheme>
    <a:fontScheme name="Luna de Cristal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Visual Thinking - Luna de Cristal</dc:title>
  <dc:subject>PptxGenJS Presentation</dc:subject>
  <dc:creator>Eimer Sebastián Rojas Cañas</dc:creator>
  <cp:lastModifiedBy>Eimer Sebastián Rojas Cañas</cp:lastModifiedBy>
  <cp:revision>1</cp:revision>
  <dcterms:created xsi:type="dcterms:W3CDTF">2026-10-13T16:14:02Z</dcterms:created>
  <dcterms:modified xsi:type="dcterms:W3CDTF">2026-10-13T16:14:02Z</dcterms:modified>
</cp:coreProperties>
</file>