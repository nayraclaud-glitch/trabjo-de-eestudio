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custom-properties+xml" PartName="/docProps/custom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101"/>
    <p:sldId id="257" r:id="rId102"/>
    <p:sldId id="259" r:id="rId104"/>
    <p:sldId id="286" r:id="rId131"/>
    <p:sldId id="285" r:id="rId130"/>
    <p:sldId id="284" r:id="rId129"/>
    <p:sldId id="283" r:id="rId128"/>
    <p:sldId id="282" r:id="rId127"/>
    <p:sldId id="281" r:id="rId126"/>
    <p:sldId id="260" r:id="rId105"/>
    <p:sldId id="261" r:id="rId106"/>
    <p:sldId id="262" r:id="rId107"/>
    <p:sldId id="263" r:id="rId108"/>
    <p:sldId id="264" r:id="rId109"/>
    <p:sldId id="265" r:id="rId110"/>
    <p:sldId id="266" r:id="rId111"/>
    <p:sldId id="267" r:id="rId112"/>
    <p:sldId id="268" r:id="rId113"/>
    <p:sldId id="269" r:id="rId114"/>
    <p:sldId id="270" r:id="rId115"/>
    <p:sldId id="271" r:id="rId116"/>
    <p:sldId id="273" r:id="rId118"/>
    <p:sldId id="287" r:id="rId132"/>
    <p:sldId id="272" r:id="rId117"/>
    <p:sldId id="288" r:id="rId133"/>
    <p:sldId id="274" r:id="rId119"/>
    <p:sldId id="275" r:id="rId120"/>
    <p:sldId id="276" r:id="rId121"/>
    <p:sldId id="277" r:id="rId122"/>
    <p:sldId id="278" r:id="rId123"/>
    <p:sldId id="279" r:id="rId124"/>
    <p:sldId id="280" r:id="rId125"/>
  </p:sldIdLst>
  <p:sldSz cy="6858000" cx="12192000"/>
  <p:notesSz cx="6858000" cy="9144000"/>
  <p:embeddedFontLst>
    <p:embeddedFont>
      <p:font typeface="Work Sans"/>
      <p:bold r:id="rId20"/>
      <p:boldItalic r:id="rId21"/>
    </p:embeddedFont>
    <p:embeddedFont>
      <p:font typeface="Work Sans SemiBold"/>
      <p:regular r:id="rId22"/>
      <p:bold r:id="rId23"/>
      <p:italic r:id="rId24"/>
      <p:boldItalic r:id="rId25"/>
    </p:embeddedFont>
    <p:embeddedFont>
      <p:font typeface="Work Sans Light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  <p15:guide id="4" pos="438">
          <p15:clr>
            <a:srgbClr val="A4A3A4"/>
          </p15:clr>
        </p15:guide>
        <p15:guide id="5" orient="horz" pos="2387">
          <p15:clr>
            <a:srgbClr val="A4A3A4"/>
          </p15:clr>
        </p15:guide>
        <p15:guide id="6" orient="horz" pos="2840">
          <p15:clr>
            <a:srgbClr val="A4A3A4"/>
          </p15:clr>
        </p15:guide>
      </p15:sldGuideLst>
    </p:ext>
    <p:ext uri="GoogleSlidesCustomDataVersion2">
      <go:slidesCustomData xmlns:go="http://customooxmlschemas.google.com/" r:id="rId30" roundtripDataSignature="AMtx7mguleAI+HEx46NKSCaQ8NtjkL7C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ECCAC1-6995-4554-949F-2D5B5692ED16}">
  <a:tblStyle styleId="{51ECCAC1-6995-4554-949F-2D5B5692ED1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E7"/>
          </a:solidFill>
        </a:fill>
      </a:tcStyle>
    </a:wholeTbl>
    <a:band1H>
      <a:tcTxStyle/>
      <a:tcStyle>
        <a:fill>
          <a:solidFill>
            <a:srgbClr val="CAD5CC"/>
          </a:solidFill>
        </a:fill>
      </a:tcStyle>
    </a:band1H>
    <a:band2H>
      <a:tcTxStyle/>
    </a:band2H>
    <a:band1V>
      <a:tcTxStyle/>
      <a:tcStyle>
        <a:fill>
          <a:solidFill>
            <a:srgbClr val="CAD5CC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  <p:guide pos="438"/>
        <p:guide pos="2387" orient="horz"/>
        <p:guide pos="2840" orient="horz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WorkSans-bold.fntdata"/><Relationship Id="rId22" Type="http://schemas.openxmlformats.org/officeDocument/2006/relationships/font" Target="fonts/WorkSansSemiBold-regular.fntdata"/><Relationship Id="rId21" Type="http://schemas.openxmlformats.org/officeDocument/2006/relationships/font" Target="fonts/WorkSans-boldItalic.fntdata"/><Relationship Id="rId24" Type="http://schemas.openxmlformats.org/officeDocument/2006/relationships/font" Target="fonts/WorkSansSemiBold-italic.fntdata"/><Relationship Id="rId23" Type="http://schemas.openxmlformats.org/officeDocument/2006/relationships/font" Target="fonts/WorkSansSemiBol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26" Type="http://schemas.openxmlformats.org/officeDocument/2006/relationships/font" Target="fonts/WorkSansLight-regular.fntdata"/><Relationship Id="rId25" Type="http://schemas.openxmlformats.org/officeDocument/2006/relationships/font" Target="fonts/WorkSansSemiBold-boldItalic.fntdata"/><Relationship Id="rId28" Type="http://schemas.openxmlformats.org/officeDocument/2006/relationships/font" Target="fonts/WorkSansLight-italic.fntdata"/><Relationship Id="rId27" Type="http://schemas.openxmlformats.org/officeDocument/2006/relationships/font" Target="fonts/WorkSansLight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WorkSansLight-boldItalic.fntdata"/><Relationship Id="rId30" Type="http://customschemas.google.com/relationships/presentationmetadata" Target="metadata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Relationship Id="rId113" Type="http://schemas.openxmlformats.org/officeDocument/2006/relationships/slide" Target="slides/slide13.xml"/><Relationship Id="rId114" Type="http://schemas.openxmlformats.org/officeDocument/2006/relationships/slide" Target="slides/slide14.xml"/><Relationship Id="rId115" Type="http://schemas.openxmlformats.org/officeDocument/2006/relationships/slide" Target="slides/slide15.xml"/><Relationship Id="rId116" Type="http://schemas.openxmlformats.org/officeDocument/2006/relationships/slide" Target="slides/slide16.xml"/><Relationship Id="rId117" Type="http://schemas.openxmlformats.org/officeDocument/2006/relationships/slide" Target="slides/slide17.xml"/><Relationship Id="rId118" Type="http://schemas.openxmlformats.org/officeDocument/2006/relationships/slide" Target="slides/slide18.xml"/><Relationship Id="rId119" Type="http://schemas.openxmlformats.org/officeDocument/2006/relationships/slide" Target="slides/slide19.xml"/><Relationship Id="rId120" Type="http://schemas.openxmlformats.org/officeDocument/2006/relationships/slide" Target="slides/slide20.xml"/><Relationship Id="rId121" Type="http://schemas.openxmlformats.org/officeDocument/2006/relationships/slide" Target="slides/slide21.xml"/><Relationship Id="rId122" Type="http://schemas.openxmlformats.org/officeDocument/2006/relationships/slide" Target="slides/slide22.xml"/><Relationship Id="rId123" Type="http://schemas.openxmlformats.org/officeDocument/2006/relationships/slide" Target="slides/slide23.xml"/><Relationship Id="rId124" Type="http://schemas.openxmlformats.org/officeDocument/2006/relationships/slide" Target="slides/slide24.xml"/><Relationship Id="rId125" Type="http://schemas.openxmlformats.org/officeDocument/2006/relationships/slide" Target="slides/slide25.xml"/>  <Relationship Id="rId126" Type="http://schemas.openxmlformats.org/officeDocument/2006/relationships/slide" Target="slides/slide26.xml"/>
  <Relationship Id="rId127" Type="http://schemas.openxmlformats.org/officeDocument/2006/relationships/slide" Target="slides/slide27.xml"/>
  <Relationship Id="rId128" Type="http://schemas.openxmlformats.org/officeDocument/2006/relationships/slide" Target="slides/slide28.xml"/>
  <Relationship Id="rId129" Type="http://schemas.openxmlformats.org/officeDocument/2006/relationships/slide" Target="slides/slide29.xml"/>
  <Relationship Id="rId130" Type="http://schemas.openxmlformats.org/officeDocument/2006/relationships/slide" Target="slides/slide30.xml"/>
  <Relationship Id="rId131" Type="http://schemas.openxmlformats.org/officeDocument/2006/relationships/slide" Target="slides/slide31.xml"/>
  <Relationship Id="rId132" Type="http://schemas.openxmlformats.org/officeDocument/2006/relationships/slide" Target="slides/slide32.xml"/>
  <Relationship Id="rId133" Type="http://schemas.openxmlformats.org/officeDocument/2006/relationships/slide" Target="slides/slide3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EC388"/>
              </a:buClr>
              <a:buSzPts val="2400"/>
              <a:buNone/>
              <a:defRPr sz="2400">
                <a:solidFill>
                  <a:srgbClr val="8EC3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2000"/>
              <a:buNone/>
              <a:defRPr sz="2000">
                <a:solidFill>
                  <a:srgbClr val="8EC3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800"/>
              <a:buNone/>
              <a:defRPr sz="1800">
                <a:solidFill>
                  <a:srgbClr val="8EC3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9pPr>
          </a:lstStyle>
          <a:p/>
        </p:txBody>
      </p:sp>
      <p:sp>
        <p:nvSpPr>
          <p:cNvPr id="34" name="Google Shape;34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g_boutique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problema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formulacion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2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justificacion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2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orico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conceptual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yopal.jp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enfoque.jp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shopwoman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cnicas.jp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recursos.jp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portes.jp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itulo"/>
          <p:cNvSpPr txBox="1"/>
          <p:nvPr/>
        </p:nvSpPr>
        <p:spPr>
          <a:xfrm>
            <a:off x="731520" y="1920240"/>
            <a:ext cx="67665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Portafolio digital para Luna de Cristal</a:t>
            </a:r>
          </a:p>
        </p:txBody>
      </p:sp>
      <p:sp>
        <p:nvSpPr>
          <p:cNvPr id="97" name="subtitulo"/>
          <p:cNvSpPr txBox="1"/>
          <p:nvPr/>
        </p:nvSpPr>
        <p:spPr>
          <a:xfrm>
            <a:off x="731520" y="4160520"/>
            <a:ext cx="102412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b="1" lang="es-CO" sz="16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Intervención de los procesos administrativos con enfoque de innovación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Nicol Camila Medina Millán  ·  Eimer Sebastián Rojas Cañas  ·  Maikol Stiven Figueredo Montealegre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Tecnólogo en Gestión del Desarrollo Administrativo e Innovación — SENA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Instructora: Alba Rocío Cuchigay Rosas  ·  Yopal, Casanare  ·  2026</a:t>
            </a:r>
          </a:p>
        </p:txBody>
      </p:sp>
      <p:pic>
        <p:nvPicPr>
          <p:cNvPr id="95" name="logoSENA"/>
          <p:cNvPicPr preferRelativeResize="0"/>
          <p:nvPr/>
        </p:nvPicPr>
        <p:blipFill rotWithShape="1">
          <a:blip r:embed="rId4">
            <a:alphaModFix/>
          </a:blip>
          <a:srcRect b="22927" l="24976" r="24976" t="22927"/>
          <a:stretch/>
        </p:blipFill>
        <p:spPr>
          <a:xfrm>
            <a:off x="10207572" y="1055213"/>
            <a:ext cx="923111" cy="90876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clasif"/>
          <p:cNvSpPr txBox="1"/>
          <p:nvPr/>
        </p:nvSpPr>
        <p:spPr>
          <a:xfrm>
            <a:off x="391886" y="296862"/>
            <a:ext cx="2828392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buNone/>
            </a:pPr>
            <a:r>
              <a:rPr b="1" i="0" lang="es-CO" sz="1000" u="none" cap="none" strike="noStrike">
                <a:solidFill>
                  <a:srgbClr val="4D4D4C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Clasificación de la información: Pública</a:t>
            </a:r>
          </a:p>
        </p:txBody>
      </p:sp>
      <p:pic>
        <p:nvPicPr>
          <p:cNvPr id="201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83880" y="2148840"/>
            <a:ext cx="2606040" cy="1956816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Antecedentes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Antecedentes y estado actual del conocimiento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Como antecedentes directos del proyecto se tomaron tres estudios colombianos del sector de la moda y la ropa femenina, por su cercanía con el negocio de Luna de Cristal.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Estudios que tomamos: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1. Gallego Arango y Durán Rincón (2024):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pequeñas empresas de moda y tecnología, Oriente Antioqueño.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2. Fuentes y Mejía (2021):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tienda de ropa deportiva femenina en Sahagún, Córdoba.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3. Lago Padilla et al. (2024):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Bargui y la moda femenina en Aguachica, Cesar.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El problema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Tema, alcance y delimitación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intervenir los procesos administrativos de Luna de Cristal mediante un portafolio digital con enfoque de innovación.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Alcance: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fase de planeación —diagnóstico y diseño de la propuesta—, sin implementación definitiva.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Delimitación: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 en Yopal (Casanare), comercio minorista (CIIU 4771-4773), año 2026.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Planteamiento del problema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es una microempresa de dos personas que atiende siete clientas al día y gestiona de forma manual su inventario, ventas y clientes.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Esto causa pérdida de datos y demoras en la atención.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Además carece de catálogo digital y pierde clientes frente a competidores que sí exhiben su oferta en línea.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Formulación y sistematización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 central: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¿Cómo contribuye un portafolio digital a intervenir, con innovación, los procesos administrativos de Luna de Cristal en Yopal?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Preguntas específicas: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estado actual de los procesos; elementos y funciones del portafolio; aporte de innovación; resultados esperados en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Objetivos, justificación e hipótesis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un portafolio digital para la intervención de los procesos administrativos, con enfoque de innovación, en la empresa Luna de Cristal del municipio de Yopal, Casanare.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Diagnosticar el estado actual de los procesos (inventario, ventas y atención al cliente).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Determinar los elementos, contenidos y funciones del portafolio digital.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la propuesta que organice el catálogo y apoye el control administrativo.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Proponer indicadores para evaluar su aporte a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Justificación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Práctica: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una herramienta para ordenar inventario, ventas y catálogo.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Teórica: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aporta a la transformación digital e innovación en microempresas de moda.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Social: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fortalece el empleo y la economía local.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Competitiva: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vuelve visible en el canal digital su ventaja de precio y trato cercano.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Hipótesis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portafolio digital mejora la gestión administrativa de Luna de Cristal al ordenar inventario, ventas y clientes, e innova en la exhibición de los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 su ausencia, la empresa mantendría procesos informales y perdería competitividad frente a negocios que sí innovan.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Marcos referenciales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teórico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Cuatro pilares sustentan el proyecto: el proceso administrativo (planeación, organización, dirección y control), la innovación, la transformación digital y el marketing de portafolio de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Articulados, explican por qué una herramienta digital fortalece el control, materializa la innovación y potencia la gestión comercial de la tienda.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conceptual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medio que organiza y exhibe los productos del negocio.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Proceso administrativo: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planear, organizar, dirigir y controlar.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Innovación: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aplicar algo nuevo que genera valor.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minorista y TIC: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base tecnológica del portafolio.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legal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Constitución, art. 333: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libertad de empresa.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590/2000 y 905/2004: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fomento de las mipymes.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527/1999: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electrónico.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1480/2011: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Estatuto del Consumidor.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1581/2012 y 1273/2009: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protección de datos.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2069/2020: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emprendimiento.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demográfico y geográfico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Demográfico: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Yopal tiene 192.468 habitantes (DANE, 2024), el 50,6 % mujeres, y concentra el 41,2 % de la población de Casanare.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Mercado objetivo: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mujeres de 16 a 60 años de Yopal y municipios aledaños, estratos 1 a 3; la tienda atiende unas siete clientas al día.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Empresarial: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es la principal actividad de Casanare (12.001 empresas); el 94 % son microempresas.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Geográfico: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Yopal es la capital de Casanare, en la Orinoquía. La tienda está en la Carrera 19 #23-57, centro de la ciudad.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Diseño metodológico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Enfoque y método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Investigación aplicada, enfoque mixto y alcance descriptivo: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combina observación y entrevista a la propietaria con encuestas a clientes internos, clientes externos y proveedores.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Método deductivo: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parte de la administración y la innovación hacia el caso de Luna de Cristal.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Variables: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 (independiente) y procesos administrativos (dependiente).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Población y muestra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Población: la empresa y sus clientas (mujeres de 16 a 60 años de Yopal).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propietaria aporta la visión interna del negocio.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Para las clientas se calcula una muestra con la fórmula de poblaciones finitas (95 % de confianza, 5 % de error): n ≈ 45 clientas.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Técnicas e instrumentos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Técnicas: observación directa, entrevista semiestructurada y encuesta, cada una con su instrumento (guía, guion y cuestionario).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primarias (empresa y clientas) y secundarias (DANE, Cámara de Comercio, normas y artículos).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información se clasifica, tabula y analiza en tablas y gráficos.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Administración del proyecto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Recursos, presupuesto y cronograma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Recursos: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recursos propios del equipo: transporte (gasolina) $100.000, equipo de cómputo $3.000.000 y servicio de internet $280.000.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Presupuesto: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$3.380.000 COP, financiado con recursos propios.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Cronograma: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organiza en una semana la fase de planeación hasta entregar la propuesta.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Estado actual del conocimiento y aportes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Estado actual: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de moda en Latinoamérica se ha desplazado hacia los canales digitales y las redes sociales; las microempresas que integran estas herramientas mejoran su posicionamiento y sus ventas (Cervera Wong &amp; Bonifacio Salazar, 2024; Luna Morelo et al., 2024).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Aportes a Luna de Cristal: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Gallego y Durán: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visual, fácil e integrado con ventas, inventario y redes.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y Mejía: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conocer a las clientas y el mercado antes de decidir.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Lago Padilla et al.: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integrar demanda, operaciones y viabilidad (CANVAS).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3: diseño metodológico y resultados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cuantitativo; encuestas para determinar el potencial de la demanda femenina.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Tipo y alcance: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descriptivo, con propósito aplicado.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Diseño: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 del caso Bargui en Aguachica, con encuesta de demanda y gestión documental.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 y muestra: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demanda femenina del mercado de Bargui en Aguachica, Cesar.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 e instrumentos: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encuestas y gestión documental de la empresa.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 de datos: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cuantitativo y descriptivo; valoró la viabilidad técnica, operativa y financiera con el modelo CANVAS.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Resultados: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propuesta mostró factibilidad técnica, operativa y financiera.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análisis de la demanda femenina se puede integrar con la revisión de las operaciones y la viabilidad financiera.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modelo CANVAS sirve para organizar la propuesta de valor del portafolio digital.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3: Lago Padilla et al. (2024)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«Bargui y el mercado de moda femenina en Aguachica, Cesar».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el mercado, las operaciones y la viabilidad financiera de Bargui, empresa de confección de ropa femenina, para estructurar un modelo de negocio integral.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Objetivos específicos: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Identificar el potencial de la demanda femenina mediante encuestas.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los aspectos operativos con revisión documental.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Valorar la viabilidad técnica, operativa y financiera con el modelo CANVAS.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Justificación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Parte del potencial de la moda femenina.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Necesidad de evaluar la demanda, las operaciones y la viabilidad financiera para fortalecer una empresa local.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 pertinente porque estudia un caso empresarial colombiano de ropa femenina.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2: diseño metodológico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y tipo: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 descriptivo con enfoque mixto (encuestas y análisis documental y cualitativo).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 y muestra: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mujeres de la cabecera municipal de Sahagún; cálculo de 382 encuestas.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 e instrumentos: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encuesta (práctica de ejercicio, frecuencia y preferencias de vestuario) y revisión documental.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Variables: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comportamiento de la clientela, preferencias de producto, características del mercado y factibilidad del negocio.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describe a las encuestadas, estima la demanda, la compara con la oferta y usa indicadores financieros para concluir la viabilidad.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Muestra cómo conocer a las clientas (preferencias y hábitos) antes de decidir qué ofrecer.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Confirma la estrategia de Luna de Cristal: variedad, precios cómodos y ubicación céntrica.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Enseña a comparar demanda y oferta y a revisar costos antes de invertir.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2: Fuentes y Mejía (2021)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Creación de una empresa dedicada a la comercialización de ropa deportiva femenina en Sahagún, Córdoba (Marina Sport).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 general: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determinar la viabilidad de crear la empresa Marina Sport.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Objetivos específicos: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el mercado local: demanda, oferta, precios y competidores.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Examinar a las potenciales clientas y sus hábitos.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Identificar efectos sociales y económicos (empleo).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Definir aspectos técnicos y organizacionales.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Estimar la factibilidad financiera.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Justificación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Atender la necesidad de vestuario deportivo cómodo para las mujeres de Sahagún.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Diferenciarse con variedad de diseños, tallas y precios, en una zona céntrica.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Generar empleo y dinamizar la economía local; empaques biodegradables y prendas de algodón.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Evaluar lo técnico, organizacional y financiero para pasar de una idea a una decisión informada.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1: Gallego y Durán (2024)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«Estudio de mercado para identificar el interés de las pequeñas empresas del sector textil y moda del Altiplano del Oriente Antioqueño en adquirir una aplicación tecnológica…». Universidad Católica de Oriente, Rionegro.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Metodología: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cualitativo, descriptivo y exploratorio; entrevistas semiestructuradas a profundidad a empresarios del sector y tablas cruzadas.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Hallazgos: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100 % de las empresas prefiere herramientas visuales, fáciles de usar y compatibles con facturación, inventarios, códigos QR e Instagram.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 el referente más cercano: mismo sector (comercio minorista de ropa y moda) y su disposición a usar tecnología.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Antes de implementar la solución hay que levantar información directa del negocio y de sus clientes.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portafolio digital debe ser sencillo, visual e integrarse con ventas, inventario y redes.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histórico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de ropa y accesorios ha pasado de las tiendas físicas tradicionales a modelos apoyados en canales digitales, proceso que se aceleró en los últimos años e impulsa a las microempresas a modernizar su gestión y exhibición (Carrera Mora &amp; González Rosas, 2022).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fue fundada en 2026 en Yopal, nacida del deseo de independencia financiera y la pasión por el comercio textil femenino; hoy supera su fase de introducción con un flujo de caja estable (Colsubsidio, 2023).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Evolución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Tiendas físicas tradicionales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apoyado en canales digitales y redes sociales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2026: nace Luna de Cristal, con procesos manuales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Siguiente paso: portafolio digital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institucional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SENA: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proyecto se desarrolla en el programa Tecnólogo en Gestión del Desarrollo Administrativo e Innovación, que brinda acompañamiento técnico y metodológico.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 beneficiaria: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Cristal, microempresa constituida como persona natural, comercio al por menor de ropa, perfumería y accesorios (CIIU 4771-4773).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Estructura: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horizontal y familiar: Dirección General, canal de ventas físico, canal de ventas digital y domicilios.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Filosofía de la empresa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Misión: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proveer a las mujeres de Yopal prendas, fragancias y accesorios en tendencia, con precios cómodos y atención cercana.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Visión 2030: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ser la tienda de moda femenina líder en Casanare, integrando el canal físico y el digital.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2013 - Tema de 2022">
  <a:themeElements>
    <a:clrScheme name="Personalizado 1">
      <a:dk1>
        <a:srgbClr val="39A900"/>
      </a:dk1>
      <a:lt1>
        <a:srgbClr val="FFFFFF"/>
      </a:lt1>
      <a:dk2>
        <a:srgbClr val="00304D"/>
      </a:dk2>
      <a:lt2>
        <a:srgbClr val="F6F6F6"/>
      </a:lt2>
      <a:accent1>
        <a:srgbClr val="007832"/>
      </a:accent1>
      <a:accent2>
        <a:srgbClr val="71127A"/>
      </a:accent2>
      <a:accent3>
        <a:srgbClr val="50E5F9"/>
      </a:accent3>
      <a:accent4>
        <a:srgbClr val="FDC300"/>
      </a:accent4>
      <a:accent5>
        <a:srgbClr val="000000"/>
      </a:accent5>
      <a:accent6>
        <a:srgbClr val="70AD47"/>
      </a:accent6>
      <a:hlink>
        <a:srgbClr val="0563C1"/>
      </a:hlink>
      <a:folHlink>
        <a:srgbClr val="71127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2020-10-01T23:51:28Z</dcterms:created>
  <dc:creator>Jorge Enrique Pedraza Sanchez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c111285-cafa-4fc9-8a9a-bd902089b24f_Enabled">
    <vt:lpwstr>true</vt:lpwstr>
  </property>
  <property fmtid="{D5CDD505-2E9C-101B-9397-08002B2CF9AE}" pid="3" name="MSIP_Label_fc111285-cafa-4fc9-8a9a-bd902089b24f_SetDate">
    <vt:lpwstr>2025-07-11T16:31:34Z</vt:lpwstr>
  </property>
  <property fmtid="{D5CDD505-2E9C-101B-9397-08002B2CF9AE}" pid="4" name="MSIP_Label_fc111285-cafa-4fc9-8a9a-bd902089b24f_Method">
    <vt:lpwstr>Privileged</vt:lpwstr>
  </property>
  <property fmtid="{D5CDD505-2E9C-101B-9397-08002B2CF9AE}" pid="5" name="MSIP_Label_fc111285-cafa-4fc9-8a9a-bd902089b24f_Name">
    <vt:lpwstr>Public</vt:lpwstr>
  </property>
  <property fmtid="{D5CDD505-2E9C-101B-9397-08002B2CF9AE}" pid="6" name="MSIP_Label_fc111285-cafa-4fc9-8a9a-bd902089b24f_SiteId">
    <vt:lpwstr>cbc2c381-2f2e-4d93-91d1-506c9316ace7</vt:lpwstr>
  </property>
  <property fmtid="{D5CDD505-2E9C-101B-9397-08002B2CF9AE}" pid="7" name="MSIP_Label_fc111285-cafa-4fc9-8a9a-bd902089b24f_ActionId">
    <vt:lpwstr>c6329c04-9ceb-4fca-88c8-0029777b3481</vt:lpwstr>
  </property>
  <property fmtid="{D5CDD505-2E9C-101B-9397-08002B2CF9AE}" pid="8" name="MSIP_Label_fc111285-cafa-4fc9-8a9a-bd902089b24f_ContentBits">
    <vt:lpwstr>0</vt:lpwstr>
  </property>
  <property fmtid="{D5CDD505-2E9C-101B-9397-08002B2CF9AE}" pid="9" name="MSIP_Label_fc111285-cafa-4fc9-8a9a-bd902089b24f_Tag">
    <vt:lpwstr>10, 0, 1, 1</vt:lpwstr>
  </property>
</Properties>
</file>