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  <p:sldId id="272" r:id="rId117"/>
    <p:sldId id="273" r:id="rId118"/>
    <p:sldId id="274" r:id="rId119"/>
    <p:sldId id="275" r:id="rId120"/>
    <p:sldId id="276" r:id="rId121"/>
    <p:sldId id="277" r:id="rId122"/>
    <p:sldId id="278" r:id="rId123"/>
    <p:sldId id="279" r:id="rId124"/>
    <p:sldId id="280" r:id="rId125"/>
  </p:sldIdLst>
  <p:sldSz cy="6858000" cx="12192000"/>
  <p:notesSz cx="6858000" cy="9144000"/>
  <p:embeddedFontLst>
    <p:embeddedFont>
      <p:font typeface="Work Sans"/>
      <p:bold r:id="rId20"/>
      <p:boldItalic r:id="rId21"/>
    </p:embeddedFont>
    <p:embeddedFont>
      <p:font typeface="Work Sans SemiBold"/>
      <p:regular r:id="rId22"/>
      <p:bold r:id="rId23"/>
      <p:italic r:id="rId24"/>
      <p:boldItalic r:id="rId25"/>
    </p:embeddedFont>
    <p:embeddedFont>
      <p:font typeface="Work Sans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  <p15:guide id="4" pos="438">
          <p15:clr>
            <a:srgbClr val="A4A3A4"/>
          </p15:clr>
        </p15:guide>
        <p15:guide id="5" orient="horz" pos="2387">
          <p15:clr>
            <a:srgbClr val="A4A3A4"/>
          </p15:clr>
        </p15:guide>
        <p15:guide id="6" orient="horz" pos="284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guleAI+HEx46NKSCaQ8NtjkL7C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ECCAC1-6995-4554-949F-2D5B5692ED16}">
  <a:tblStyle styleId="{51ECCAC1-6995-4554-949F-2D5B5692ED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E7"/>
          </a:solidFill>
        </a:fill>
      </a:tcStyle>
    </a:wholeTbl>
    <a:band1H>
      <a:tcTxStyle/>
      <a:tcStyle>
        <a:fill>
          <a:solidFill>
            <a:srgbClr val="CAD5CC"/>
          </a:solidFill>
        </a:fill>
      </a:tcStyle>
    </a:band1H>
    <a:band2H>
      <a:tcTxStyle/>
    </a:band2H>
    <a:band1V>
      <a:tcTxStyle/>
      <a:tcStyle>
        <a:fill>
          <a:solidFill>
            <a:srgbClr val="CAD5CC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  <p:guide pos="438"/>
        <p:guide pos="2387" orient="horz"/>
        <p:guide pos="2840" orient="horz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font" Target="fonts/WorkSans-bold.fntdata"/><Relationship Id="rId22" Type="http://schemas.openxmlformats.org/officeDocument/2006/relationships/font" Target="fonts/WorkSansSemiBold-regular.fntdata"/><Relationship Id="rId21" Type="http://schemas.openxmlformats.org/officeDocument/2006/relationships/font" Target="fonts/WorkSans-boldItalic.fntdata"/><Relationship Id="rId24" Type="http://schemas.openxmlformats.org/officeDocument/2006/relationships/font" Target="fonts/WorkSansSemiBold-italic.fntdata"/><Relationship Id="rId23" Type="http://schemas.openxmlformats.org/officeDocument/2006/relationships/font" Target="fonts/WorkSans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WorkSansLight-regular.fntdata"/><Relationship Id="rId25" Type="http://schemas.openxmlformats.org/officeDocument/2006/relationships/font" Target="fonts/WorkSansSemiBold-boldItalic.fntdata"/><Relationship Id="rId28" Type="http://schemas.openxmlformats.org/officeDocument/2006/relationships/font" Target="fonts/WorkSansLight-italic.fntdata"/><Relationship Id="rId27" Type="http://schemas.openxmlformats.org/officeDocument/2006/relationships/font" Target="fonts/WorkSansLigh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WorkSansLight-boldItalic.fntdata"/><Relationship Id="rId30" Type="http://customschemas.google.com/relationships/presentationmetadata" Target="metadata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EC388"/>
              </a:buClr>
              <a:buSzPts val="2400"/>
              <a:buNone/>
              <a:defRPr sz="2400">
                <a:solidFill>
                  <a:srgbClr val="8EC3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2000"/>
              <a:buNone/>
              <a:defRPr sz="2000">
                <a:solidFill>
                  <a:srgbClr val="8EC3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800"/>
              <a:buNone/>
              <a:defRPr sz="1800">
                <a:solidFill>
                  <a:srgbClr val="8EC3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9pPr>
          </a:lstStyle>
          <a:p/>
        </p:txBody>
      </p:sp>
      <p:sp>
        <p:nvSpPr>
          <p:cNvPr id="34" name="Google Shape;3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g_boutique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clothing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problema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formulacion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2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justificacion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orico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conceptual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yopal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enfoque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shopwoman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cnicas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recursos.jp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ulo"/>
          <p:cNvSpPr txBox="1"/>
          <p:nvPr/>
        </p:nvSpPr>
        <p:spPr>
          <a:xfrm>
            <a:off x="731520" y="1920240"/>
            <a:ext cx="67665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Portafolio digital para Luna de Cristal</a:t>
            </a:r>
          </a:p>
        </p:txBody>
      </p:sp>
      <p:sp>
        <p:nvSpPr>
          <p:cNvPr id="97" name="subtitulo"/>
          <p:cNvSpPr txBox="1"/>
          <p:nvPr/>
        </p:nvSpPr>
        <p:spPr>
          <a:xfrm>
            <a:off x="731520" y="4160520"/>
            <a:ext cx="102412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b="1" lang="es-CO" sz="16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Intervención de los procesos administrativos con enfoque de innovación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Nicol Camila Medina Millán  ·  Eimer Sebastián Rojas Cañas  ·  Maikol Stiven Figueredo Montealegre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Tecnólogo en Gestión del Desarrollo Administrativo e Innovación — SENA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Instructora: Alba Rocío Cuchigay Rosas  ·  Yopal, Casanare  ·  2026</a:t>
            </a:r>
          </a:p>
        </p:txBody>
      </p:sp>
      <p:pic>
        <p:nvPicPr>
          <p:cNvPr id="95" name="logoSENA"/>
          <p:cNvPicPr preferRelativeResize="0"/>
          <p:nvPr/>
        </p:nvPicPr>
        <p:blipFill rotWithShape="1">
          <a:blip r:embed="rId4">
            <a:alphaModFix/>
          </a:blip>
          <a:srcRect b="22927" l="24976" r="24976" t="22927"/>
          <a:stretch/>
        </p:blipFill>
        <p:spPr>
          <a:xfrm>
            <a:off x="10207572" y="1055213"/>
            <a:ext cx="923111" cy="90876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clasif"/>
          <p:cNvSpPr txBox="1"/>
          <p:nvPr/>
        </p:nvSpPr>
        <p:spPr>
          <a:xfrm>
            <a:off x="391886" y="296862"/>
            <a:ext cx="2828392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buNone/>
            </a:pPr>
            <a:r>
              <a:rPr b="1" i="0" lang="es-CO" sz="1000" u="none" cap="none" strike="noStrike">
                <a:solidFill>
                  <a:srgbClr val="4D4D4C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Clasificación de la información: Pública</a:t>
            </a:r>
          </a:p>
        </p:txBody>
      </p:sp>
      <p:pic>
        <p:nvPicPr>
          <p:cNvPr id="201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83880" y="2148840"/>
            <a:ext cx="2606040" cy="1956816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Introducción y antecedentes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Introducción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transformación digital es hoy una condición de supervivencia para el pequeño comercio.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—tienda de ropa, perfumes y correas en Yopal— administra su inventario, ventas y clientes de forma manual.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Este anteproyecto propone un portafolio digital para ordenar y modernizar sus procesos administrativos.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Gallego y Durán (2024):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100 % de las empresas de moda prefiere herramientas visuales, fáciles y compatibles con inventario, QR y redes.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y Mejía (2021):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viabilidad de una tienda de ropa deportiva femenina en Sahagún.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Lago Padilla et al. (2024):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modelo de negocio CANVAS para una empresa de moda femenina.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El problema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Tema, alcance y delimitación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intervenir los procesos administrativos de Luna de Cristal mediante un portafolio digital con enfoque de innovación.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Alcance: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fase de planeación —diagnóstico y diseño de la propuesta—, sin implementación definitiva.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Delimitación: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en Yopal (Casanare), comercio minorista (CIIU 4771-4773), año 2026.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es una microempresa de dos personas que atiende siete clientas al día y gestiona de forma manual su inventario, ventas y clientes.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Esto causa pérdida de datos y demoras en la atención.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Además carece de catálogo digital y pierde clientes frente a competidores que sí exhiben su oferta en línea.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Formulación y sistematización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 central: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¿Cómo contribuye un portafolio digital a intervenir, con innovación, los procesos administrativos de Luna de Cristal en Yopal?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Preguntas específicas: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 de los procesos; elementos y funciones del portafolio; aporte de innovación; resultados esperados en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Objetivos, justificación e hipótesis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un portafolio digital para la intervención de los procesos administrativos, con enfoque de innovación, en la empresa Luna de Cristal del municipio de Yopal, Casanare.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Diagnosticar el estado actual de los procesos (inventario, ventas y atención al cliente).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los elementos, contenidos y funciones del portafolio digital.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la propuesta que organice el catálogo y apoye el control administrativo.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Proponer indicadores para evaluar su aporte a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Práctica: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una herramienta para ordenar inventario, ventas y catálogo.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Teórica: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aporta a la transformación digital e innovación en microempresas de moda.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Social: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fortalece el empleo y la economía local.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Competitiva: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vuelve visible en el canal digital su ventaja de precio y trato cercano.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Hipótesis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mejora la gestión administrativa de Luna de Cristal al ordenar inventario, ventas y clientes, e innova en la exhibición de los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 su ausencia, la empresa mantendría procesos informales y perdería competitividad frente a negocios que sí innovan.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Marcos referenciales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teórico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Cuatro pilares sustentan el proyecto: el proceso administrativo (planeación, organización, dirección y control), la innovación, la transformación digital y el marketing de portafolio de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Articulados, explican por qué una herramienta digital fortalece el control, materializa la innovación y potencia la gestión comercial de la tienda.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conceptual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medio que organiza y exhibe los productos del negocio.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Proceso administrativo: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planear, organizar, dirigir y controlar.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Innovación: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aplicar algo nuevo que genera valor.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minorista y TIC: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base tecnológica del portafolio.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legal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Constitución, art. 333: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libertad de empresa.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590/2000 y 905/2004: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fomento de las mipymes.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527/1999: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electrónico.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1480/2011: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Estatuto del Consumidor.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1581/2012 y 1273/2009: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protección de datos.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2069/2020: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emprendimiento.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demográfico, geográfico e institucional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tiene 192.468 habitantes (50,6 % mujeres) y concentra el 41,2 % de Casanare.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es la principal actividad: 12.001 empresas, 94 % microempresas. La tienda está en la Carrera 19 #23-57, centro de Yopal.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proyecto se respalda en el SENA, programa de Gestión Administrativa e Innovación.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Diseño metodológico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Enfoque y método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mixto, alcance descriptivo: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combina observación y entrevista a la propietaria con encuesta a las clientas.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Método deductivo: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 la administración y la innovación hacia el caso de Luna de Cristal.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 (independiente) y procesos administrativos (dependiente).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Población y muestra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Población: la empresa y sus clientas (mujeres de 16 a 60 años de Yopal).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propietaria aporta la visión interna del negocio.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Para las clientas se calcula una muestra con la fórmula de poblaciones finitas (95 % de confianza, 5 % de error): n ≈ 45 clientas.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Técnicas e instrumentos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observación directa, entrevista semiestructurada y encuesta, cada una con su instrumento (guía, guion y cuestionario).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primarias (empresa y clientas) y secundarias (DANE, Cámara de Comercio, normas y artículos).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información se clasifica, tabula y analiza en tablas y gráficos.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Administración del proyecto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Recursos, presupuesto y cronograma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talento humano (propietaria, asesor y aprendices SENA), local dotado, inversión propia y tecnología (computador, WhatsApp Business, redes y facturación básica).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Presupuesto: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busca el menor costo posible para la microempresa.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Cronograma: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organiza por meses la fase de planeación hasta entregar la propuesta.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2013 - Tema de 2022">
  <a:themeElements>
    <a:clrScheme name="Personalizado 1">
      <a:dk1>
        <a:srgbClr val="39A900"/>
      </a:dk1>
      <a:lt1>
        <a:srgbClr val="FFFFFF"/>
      </a:lt1>
      <a:dk2>
        <a:srgbClr val="00304D"/>
      </a:dk2>
      <a:lt2>
        <a:srgbClr val="F6F6F6"/>
      </a:lt2>
      <a:accent1>
        <a:srgbClr val="007832"/>
      </a:accent1>
      <a:accent2>
        <a:srgbClr val="71127A"/>
      </a:accent2>
      <a:accent3>
        <a:srgbClr val="50E5F9"/>
      </a:accent3>
      <a:accent4>
        <a:srgbClr val="FDC300"/>
      </a:accent4>
      <a:accent5>
        <a:srgbClr val="000000"/>
      </a:accent5>
      <a:accent6>
        <a:srgbClr val="70AD47"/>
      </a:accent6>
      <a:hlink>
        <a:srgbClr val="0563C1"/>
      </a:hlink>
      <a:folHlink>
        <a:srgbClr val="71127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2025-07-11T16:31:34Z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c6329c04-9ceb-4fca-88c8-0029777b3481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